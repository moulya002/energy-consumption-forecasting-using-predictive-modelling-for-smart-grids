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embeddedFontLst>
    <p:embeddedFont>
      <p:font typeface="Play"/>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812197-779C-4D4B-9A48-D510BFC2441A}">
  <a:tblStyle styleId="{FB812197-779C-4D4B-9A48-D510BFC2441A}"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ECF3D985-9518-4C8F-802C-F8963C1D17C1}" styleName="Table_1">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BEBE7"/>
          </a:solidFill>
        </a:fill>
      </a:tcStyle>
    </a:wholeTbl>
    <a:band1H>
      <a:tcTxStyle/>
      <a:tcStyle>
        <a:fill>
          <a:solidFill>
            <a:srgbClr val="F6D4CC"/>
          </a:solidFill>
        </a:fill>
      </a:tcStyle>
    </a:band1H>
    <a:band2H>
      <a:tcTxStyle/>
    </a:band2H>
    <a:band1V>
      <a:tcTxStyle/>
      <a:tcStyle>
        <a:fill>
          <a:solidFill>
            <a:srgbClr val="F6D4CC"/>
          </a:solidFill>
        </a:fill>
      </a:tcStyle>
    </a:band1V>
    <a:band2V>
      <a:tcTxStyle/>
    </a:band2V>
    <a:lastCol>
      <a:tcTxStyle b="on" i="off">
        <a:font>
          <a:latin typeface="Aptos"/>
          <a:ea typeface="Aptos"/>
          <a:cs typeface="Aptos"/>
        </a:font>
        <a:schemeClr val="lt1"/>
      </a:tcTxStyle>
      <a:tcStyle>
        <a:fill>
          <a:solidFill>
            <a:schemeClr val="accent2"/>
          </a:solidFill>
        </a:fill>
      </a:tcStyle>
    </a:lastCol>
    <a:firstCol>
      <a:tcTxStyle b="on" i="off">
        <a:font>
          <a:latin typeface="Aptos"/>
          <a:ea typeface="Aptos"/>
          <a:cs typeface="Aptos"/>
        </a:font>
        <a:schemeClr val="lt1"/>
      </a:tcTxStyle>
      <a:tcStyle>
        <a:fill>
          <a:solidFill>
            <a:schemeClr val="accent2"/>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regular.fntdata"/><Relationship Id="rId25" Type="http://schemas.openxmlformats.org/officeDocument/2006/relationships/slide" Target="slides/slide20.xml"/><Relationship Id="rId27"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5ffb466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5ffb4668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a5ffb4668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png"/><Relationship Id="rId9"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igshare.com/articles/dataset/Energy_Station_Data/2497864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github.com/cezanekarki/Energy-Consumption-Analysis.git" TargetMode="External"/><Relationship Id="rId4" Type="http://schemas.openxmlformats.org/officeDocument/2006/relationships/hyperlink" Target="https://energyconsumptiontimeseriesforecasting-hnshvkhbjnhr8zssvhwqvb.streamlit.app/" TargetMode="External"/><Relationship Id="rId5"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A diagram of a smart city&#10;&#10;AI-generated content may be incorrect." id="89" name="Google Shape;89;p13"/>
          <p:cNvPicPr preferRelativeResize="0"/>
          <p:nvPr/>
        </p:nvPicPr>
        <p:blipFill rotWithShape="1">
          <a:blip r:embed="rId3">
            <a:alphaModFix/>
          </a:blip>
          <a:srcRect b="11861" l="0" r="0" t="19096"/>
          <a:stretch/>
        </p:blipFill>
        <p:spPr>
          <a:xfrm>
            <a:off x="387025" y="1869025"/>
            <a:ext cx="8807747" cy="4683273"/>
          </a:xfrm>
          <a:prstGeom prst="rect">
            <a:avLst/>
          </a:prstGeom>
          <a:noFill/>
          <a:ln>
            <a:noFill/>
          </a:ln>
        </p:spPr>
      </p:pic>
      <p:sp>
        <p:nvSpPr>
          <p:cNvPr id="90" name="Google Shape;90;p13"/>
          <p:cNvSpPr txBox="1"/>
          <p:nvPr/>
        </p:nvSpPr>
        <p:spPr>
          <a:xfrm>
            <a:off x="887506" y="262754"/>
            <a:ext cx="10496100" cy="1280400"/>
          </a:xfrm>
          <a:prstGeom prst="rect">
            <a:avLst/>
          </a:prstGeom>
          <a:noFill/>
          <a:ln>
            <a:noFill/>
          </a:ln>
        </p:spPr>
        <p:txBody>
          <a:bodyPr anchorCtr="0" anchor="ctr" bIns="45700" lIns="91425" spcFirstLastPara="1" rIns="91425" wrap="square" tIns="45700">
            <a:normAutofit fontScale="85000" lnSpcReduction="20000"/>
          </a:bodyPr>
          <a:lstStyle/>
          <a:p>
            <a:pPr indent="0" lvl="0" marL="0" marR="0" rtl="0" algn="ctr">
              <a:lnSpc>
                <a:spcPct val="90000"/>
              </a:lnSpc>
              <a:spcBef>
                <a:spcPts val="0"/>
              </a:spcBef>
              <a:spcAft>
                <a:spcPts val="0"/>
              </a:spcAft>
              <a:buClr>
                <a:schemeClr val="dk1"/>
              </a:buClr>
              <a:buSzPct val="100000"/>
              <a:buFont typeface="Times New Roman"/>
              <a:buNone/>
            </a:pPr>
            <a:r>
              <a:rPr b="0" i="0" lang="en-US" sz="6000" u="none" cap="none" strike="noStrike">
                <a:solidFill>
                  <a:schemeClr val="dk1"/>
                </a:solidFill>
                <a:latin typeface="Times New Roman"/>
                <a:ea typeface="Times New Roman"/>
                <a:cs typeface="Times New Roman"/>
                <a:sym typeface="Times New Roman"/>
              </a:rPr>
              <a:t>Energy Consumption Forecasting using Predictive Model</a:t>
            </a:r>
            <a:r>
              <a:rPr lang="en-US" sz="6000">
                <a:solidFill>
                  <a:schemeClr val="dk1"/>
                </a:solidFill>
                <a:latin typeface="Times New Roman"/>
                <a:ea typeface="Times New Roman"/>
                <a:cs typeface="Times New Roman"/>
                <a:sym typeface="Times New Roman"/>
              </a:rPr>
              <a:t>ing</a:t>
            </a:r>
            <a:r>
              <a:rPr b="0" i="0" lang="en-US" sz="6000" u="none" cap="none" strike="noStrike">
                <a:solidFill>
                  <a:schemeClr val="dk1"/>
                </a:solidFill>
                <a:latin typeface="Times New Roman"/>
                <a:ea typeface="Times New Roman"/>
                <a:cs typeface="Times New Roman"/>
                <a:sym typeface="Times New Roman"/>
              </a:rPr>
              <a:t> for Smart Grids</a:t>
            </a:r>
            <a:endParaRPr b="0" i="0" sz="6000" u="none" cap="none" strike="noStrike">
              <a:solidFill>
                <a:schemeClr val="dk1"/>
              </a:solidFill>
              <a:latin typeface="Play"/>
              <a:ea typeface="Play"/>
              <a:cs typeface="Play"/>
              <a:sym typeface="Play"/>
            </a:endParaRPr>
          </a:p>
        </p:txBody>
      </p:sp>
      <p:sp>
        <p:nvSpPr>
          <p:cNvPr id="91" name="Google Shape;91;p13"/>
          <p:cNvSpPr txBox="1"/>
          <p:nvPr/>
        </p:nvSpPr>
        <p:spPr>
          <a:xfrm>
            <a:off x="9194775" y="3429000"/>
            <a:ext cx="2997300" cy="318390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lnSpc>
                <a:spcPct val="90000"/>
              </a:lnSpc>
              <a:spcBef>
                <a:spcPts val="0"/>
              </a:spcBef>
              <a:spcAft>
                <a:spcPts val="0"/>
              </a:spcAft>
              <a:buClr>
                <a:srgbClr val="F2F2F2"/>
              </a:buClr>
              <a:buSzPct val="100000"/>
              <a:buFont typeface="Arial"/>
              <a:buNone/>
            </a:pPr>
            <a:r>
              <a:rPr b="1" lang="en-US" sz="2800">
                <a:solidFill>
                  <a:schemeClr val="dk1"/>
                </a:solidFill>
                <a:latin typeface="Times New Roman"/>
                <a:ea typeface="Times New Roman"/>
                <a:cs typeface="Times New Roman"/>
                <a:sym typeface="Times New Roman"/>
              </a:rPr>
              <a:t>Presented by-</a:t>
            </a:r>
            <a:endParaRPr b="1" sz="2800">
              <a:solidFill>
                <a:schemeClr val="dk1"/>
              </a:solidFill>
              <a:latin typeface="Times New Roman"/>
              <a:ea typeface="Times New Roman"/>
              <a:cs typeface="Times New Roman"/>
              <a:sym typeface="Times New Roman"/>
            </a:endParaRPr>
          </a:p>
          <a:p>
            <a:pPr indent="0" lvl="0" marL="0" marR="0" rtl="0" algn="ctr">
              <a:lnSpc>
                <a:spcPct val="90000"/>
              </a:lnSpc>
              <a:spcBef>
                <a:spcPts val="0"/>
              </a:spcBef>
              <a:spcAft>
                <a:spcPts val="0"/>
              </a:spcAft>
              <a:buClr>
                <a:srgbClr val="F2F2F2"/>
              </a:buClr>
              <a:buSzPct val="100000"/>
              <a:buFont typeface="Arial"/>
              <a:buNone/>
            </a:pPr>
            <a:r>
              <a:rPr b="1" lang="en-US" sz="2800">
                <a:solidFill>
                  <a:schemeClr val="dk1"/>
                </a:solidFill>
                <a:latin typeface="Times New Roman"/>
                <a:ea typeface="Times New Roman"/>
                <a:cs typeface="Times New Roman"/>
                <a:sym typeface="Times New Roman"/>
              </a:rPr>
              <a:t>Group: 5 </a:t>
            </a:r>
            <a:endParaRPr b="1" sz="2800">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F2F2F2"/>
              </a:buClr>
              <a:buSzPct val="100000"/>
              <a:buFont typeface="Arial"/>
              <a:buNone/>
            </a:pPr>
            <a:r>
              <a:t/>
            </a:r>
            <a:endParaRPr b="1" sz="2800">
              <a:solidFill>
                <a:schemeClr val="dk1"/>
              </a:solidFill>
              <a:latin typeface="Times New Roman"/>
              <a:ea typeface="Times New Roman"/>
              <a:cs typeface="Times New Roman"/>
              <a:sym typeface="Times New Roman"/>
            </a:endParaRPr>
          </a:p>
          <a:p>
            <a:pPr indent="-281940" lvl="0" marL="228600" marR="0" rtl="0" algn="l">
              <a:lnSpc>
                <a:spcPct val="90000"/>
              </a:lnSpc>
              <a:spcBef>
                <a:spcPts val="1000"/>
              </a:spcBef>
              <a:spcAft>
                <a:spcPts val="0"/>
              </a:spcAft>
              <a:buClr>
                <a:schemeClr val="dk1"/>
              </a:buClr>
              <a:buSzPct val="100000"/>
              <a:buFont typeface="Arial"/>
              <a:buChar char="•"/>
            </a:pPr>
            <a:r>
              <a:rPr b="1" lang="en-US" sz="2800">
                <a:solidFill>
                  <a:schemeClr val="dk1"/>
                </a:solidFill>
                <a:latin typeface="Times New Roman"/>
                <a:ea typeface="Times New Roman"/>
                <a:cs typeface="Times New Roman"/>
                <a:sym typeface="Times New Roman"/>
              </a:rPr>
              <a:t>Aeshwa Kachhadiya</a:t>
            </a:r>
            <a:endParaRPr b="1" sz="2800">
              <a:solidFill>
                <a:schemeClr val="dk1"/>
              </a:solidFill>
              <a:latin typeface="Times New Roman"/>
              <a:ea typeface="Times New Roman"/>
              <a:cs typeface="Times New Roman"/>
              <a:sym typeface="Times New Roman"/>
            </a:endParaRPr>
          </a:p>
          <a:p>
            <a:pPr indent="-281940" lvl="0" marL="228600" marR="0" rtl="0" algn="l">
              <a:lnSpc>
                <a:spcPct val="90000"/>
              </a:lnSpc>
              <a:spcBef>
                <a:spcPts val="1000"/>
              </a:spcBef>
              <a:spcAft>
                <a:spcPts val="0"/>
              </a:spcAft>
              <a:buClr>
                <a:schemeClr val="dk1"/>
              </a:buClr>
              <a:buSzPct val="100000"/>
              <a:buFont typeface="Arial"/>
              <a:buChar char="•"/>
            </a:pPr>
            <a:r>
              <a:rPr b="1" lang="en-US" sz="2800">
                <a:solidFill>
                  <a:schemeClr val="dk1"/>
                </a:solidFill>
                <a:latin typeface="Times New Roman"/>
                <a:ea typeface="Times New Roman"/>
                <a:cs typeface="Times New Roman"/>
                <a:sym typeface="Times New Roman"/>
              </a:rPr>
              <a:t>Bimala Joshi</a:t>
            </a:r>
            <a:endParaRPr>
              <a:solidFill>
                <a:schemeClr val="dk1"/>
              </a:solidFill>
            </a:endParaRPr>
          </a:p>
          <a:p>
            <a:pPr indent="-281940" lvl="0" marL="228600" marR="0" rtl="0" algn="l">
              <a:lnSpc>
                <a:spcPct val="90000"/>
              </a:lnSpc>
              <a:spcBef>
                <a:spcPts val="1000"/>
              </a:spcBef>
              <a:spcAft>
                <a:spcPts val="0"/>
              </a:spcAft>
              <a:buClr>
                <a:schemeClr val="dk1"/>
              </a:buClr>
              <a:buSzPct val="100000"/>
              <a:buFont typeface="Arial"/>
              <a:buChar char="•"/>
            </a:pPr>
            <a:r>
              <a:rPr b="1" lang="en-US" sz="2800">
                <a:solidFill>
                  <a:schemeClr val="dk1"/>
                </a:solidFill>
                <a:latin typeface="Times New Roman"/>
                <a:ea typeface="Times New Roman"/>
                <a:cs typeface="Times New Roman"/>
                <a:sym typeface="Times New Roman"/>
              </a:rPr>
              <a:t>Cezane Karki</a:t>
            </a:r>
            <a:endParaRPr>
              <a:solidFill>
                <a:schemeClr val="dk1"/>
              </a:solidFill>
            </a:endParaRPr>
          </a:p>
          <a:p>
            <a:pPr indent="-281940" lvl="0" marL="228600" marR="0" rtl="0" algn="l">
              <a:lnSpc>
                <a:spcPct val="90000"/>
              </a:lnSpc>
              <a:spcBef>
                <a:spcPts val="1000"/>
              </a:spcBef>
              <a:spcAft>
                <a:spcPts val="0"/>
              </a:spcAft>
              <a:buClr>
                <a:schemeClr val="dk1"/>
              </a:buClr>
              <a:buSzPct val="100000"/>
              <a:buFont typeface="Arial"/>
              <a:buChar char="•"/>
            </a:pPr>
            <a:r>
              <a:rPr b="1" lang="en-US" sz="2800">
                <a:solidFill>
                  <a:schemeClr val="dk1"/>
                </a:solidFill>
                <a:latin typeface="Times New Roman"/>
                <a:ea typeface="Times New Roman"/>
                <a:cs typeface="Times New Roman"/>
                <a:sym typeface="Times New Roman"/>
              </a:rPr>
              <a:t>Moulya Reddygari Bhupal</a:t>
            </a:r>
            <a:endParaRPr>
              <a:solidFill>
                <a:schemeClr val="dk1"/>
              </a:solidFill>
            </a:endParaRPr>
          </a:p>
          <a:p>
            <a:pPr indent="-281940" lvl="0" marL="228600" marR="0" rtl="0" algn="l">
              <a:lnSpc>
                <a:spcPct val="90000"/>
              </a:lnSpc>
              <a:spcBef>
                <a:spcPts val="1000"/>
              </a:spcBef>
              <a:spcAft>
                <a:spcPts val="0"/>
              </a:spcAft>
              <a:buClr>
                <a:schemeClr val="dk1"/>
              </a:buClr>
              <a:buSzPct val="100000"/>
              <a:buFont typeface="Arial"/>
              <a:buChar char="•"/>
            </a:pPr>
            <a:r>
              <a:rPr b="1" lang="en-US" sz="2800">
                <a:solidFill>
                  <a:schemeClr val="dk1"/>
                </a:solidFill>
                <a:latin typeface="Times New Roman"/>
                <a:ea typeface="Times New Roman"/>
                <a:cs typeface="Times New Roman"/>
                <a:sym typeface="Times New Roman"/>
              </a:rPr>
              <a:t>Amey Tillu</a:t>
            </a:r>
            <a:endParaRPr>
              <a:solidFill>
                <a:schemeClr val="dk1"/>
              </a:solidFill>
            </a:endParaRPr>
          </a:p>
          <a:p>
            <a:pPr indent="0" lvl="0" marL="0" marR="0" rtl="0" algn="r">
              <a:lnSpc>
                <a:spcPct val="90000"/>
              </a:lnSpc>
              <a:spcBef>
                <a:spcPts val="1000"/>
              </a:spcBef>
              <a:spcAft>
                <a:spcPts val="0"/>
              </a:spcAft>
              <a:buClr>
                <a:schemeClr val="dk1"/>
              </a:buClr>
              <a:buSzPct val="100000"/>
              <a:buFont typeface="Arial"/>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7" name="Google Shape;97;p14"/>
          <p:cNvSpPr txBox="1"/>
          <p:nvPr>
            <p:ph type="title"/>
          </p:nvPr>
        </p:nvSpPr>
        <p:spPr>
          <a:xfrm>
            <a:off x="265386"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Times New Roman"/>
              <a:buNone/>
            </a:pPr>
            <a:r>
              <a:rPr b="1" lang="en-US">
                <a:solidFill>
                  <a:srgbClr val="F2F2F2"/>
                </a:solidFill>
                <a:latin typeface="Times New Roman"/>
                <a:ea typeface="Times New Roman"/>
                <a:cs typeface="Times New Roman"/>
                <a:sym typeface="Times New Roman"/>
              </a:rPr>
              <a:t>CONTENTS</a:t>
            </a:r>
            <a:endParaRPr/>
          </a:p>
        </p:txBody>
      </p:sp>
      <p:pic>
        <p:nvPicPr>
          <p:cNvPr descr="Exploratory analysis - Free computer icons" id="98" name="Google Shape;98;p14"/>
          <p:cNvPicPr preferRelativeResize="0"/>
          <p:nvPr/>
        </p:nvPicPr>
        <p:blipFill rotWithShape="1">
          <a:blip r:embed="rId3">
            <a:alphaModFix/>
          </a:blip>
          <a:srcRect b="0" l="0" r="0" t="0"/>
          <a:stretch/>
        </p:blipFill>
        <p:spPr>
          <a:xfrm>
            <a:off x="2875926" y="1430691"/>
            <a:ext cx="1505617" cy="1505617"/>
          </a:xfrm>
          <a:prstGeom prst="rect">
            <a:avLst/>
          </a:prstGeom>
          <a:noFill/>
          <a:ln>
            <a:noFill/>
          </a:ln>
        </p:spPr>
      </p:pic>
      <p:sp>
        <p:nvSpPr>
          <p:cNvPr id="99" name="Google Shape;99;p14"/>
          <p:cNvSpPr/>
          <p:nvPr/>
        </p:nvSpPr>
        <p:spPr>
          <a:xfrm>
            <a:off x="4746783" y="1916795"/>
            <a:ext cx="315300" cy="357300"/>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Modeling - Free computer icons" id="100" name="Google Shape;100;p14"/>
          <p:cNvPicPr preferRelativeResize="0"/>
          <p:nvPr/>
        </p:nvPicPr>
        <p:blipFill rotWithShape="1">
          <a:blip r:embed="rId4">
            <a:alphaModFix/>
          </a:blip>
          <a:srcRect b="0" l="0" r="0" t="0"/>
          <a:stretch/>
        </p:blipFill>
        <p:spPr>
          <a:xfrm>
            <a:off x="5225003" y="1325586"/>
            <a:ext cx="1700049" cy="1700049"/>
          </a:xfrm>
          <a:prstGeom prst="rect">
            <a:avLst/>
          </a:prstGeom>
          <a:noFill/>
          <a:ln>
            <a:noFill/>
          </a:ln>
        </p:spPr>
      </p:pic>
      <p:pic>
        <p:nvPicPr>
          <p:cNvPr descr="Performance - Free business icons" id="101" name="Google Shape;101;p14"/>
          <p:cNvPicPr preferRelativeResize="0"/>
          <p:nvPr/>
        </p:nvPicPr>
        <p:blipFill rotWithShape="1">
          <a:blip r:embed="rId5">
            <a:alphaModFix/>
          </a:blip>
          <a:srcRect b="0" l="0" r="0" t="0"/>
          <a:stretch/>
        </p:blipFill>
        <p:spPr>
          <a:xfrm>
            <a:off x="7752745" y="1367626"/>
            <a:ext cx="1600201" cy="1600201"/>
          </a:xfrm>
          <a:prstGeom prst="rect">
            <a:avLst/>
          </a:prstGeom>
          <a:noFill/>
          <a:ln>
            <a:noFill/>
          </a:ln>
        </p:spPr>
      </p:pic>
      <p:sp>
        <p:nvSpPr>
          <p:cNvPr id="102" name="Google Shape;102;p14"/>
          <p:cNvSpPr/>
          <p:nvPr/>
        </p:nvSpPr>
        <p:spPr>
          <a:xfrm>
            <a:off x="7290294" y="2006136"/>
            <a:ext cx="315300" cy="357300"/>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3" name="Google Shape;103;p14"/>
          <p:cNvSpPr/>
          <p:nvPr/>
        </p:nvSpPr>
        <p:spPr>
          <a:xfrm rot="10800000">
            <a:off x="9035661" y="5184926"/>
            <a:ext cx="315300" cy="357300"/>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4" name="Google Shape;104;p14"/>
          <p:cNvSpPr/>
          <p:nvPr/>
        </p:nvSpPr>
        <p:spPr>
          <a:xfrm>
            <a:off x="9757191" y="1920375"/>
            <a:ext cx="315300" cy="357300"/>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5" name="Google Shape;105;p14"/>
          <p:cNvSpPr txBox="1"/>
          <p:nvPr/>
        </p:nvSpPr>
        <p:spPr>
          <a:xfrm>
            <a:off x="2875926" y="3251608"/>
            <a:ext cx="1505700" cy="92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Exploratory Data Analysis</a:t>
            </a:r>
            <a:endParaRPr/>
          </a:p>
        </p:txBody>
      </p:sp>
      <p:sp>
        <p:nvSpPr>
          <p:cNvPr id="106" name="Google Shape;106;p14"/>
          <p:cNvSpPr txBox="1"/>
          <p:nvPr/>
        </p:nvSpPr>
        <p:spPr>
          <a:xfrm>
            <a:off x="5288054" y="3304164"/>
            <a:ext cx="15057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rPr>
              <a:t>Feature Engineering</a:t>
            </a:r>
            <a:endParaRPr/>
          </a:p>
        </p:txBody>
      </p:sp>
      <p:sp>
        <p:nvSpPr>
          <p:cNvPr id="107" name="Google Shape;107;p14"/>
          <p:cNvSpPr txBox="1"/>
          <p:nvPr/>
        </p:nvSpPr>
        <p:spPr>
          <a:xfrm>
            <a:off x="7847346" y="3330436"/>
            <a:ext cx="15057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rPr>
              <a:t>Addressing Data Issues</a:t>
            </a:r>
            <a:endParaRPr/>
          </a:p>
        </p:txBody>
      </p:sp>
      <p:sp>
        <p:nvSpPr>
          <p:cNvPr id="108" name="Google Shape;108;p14"/>
          <p:cNvSpPr txBox="1"/>
          <p:nvPr/>
        </p:nvSpPr>
        <p:spPr>
          <a:xfrm>
            <a:off x="9815933" y="5579003"/>
            <a:ext cx="15057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descr="3d model - Free technology icons" id="109" name="Google Shape;109;p14"/>
          <p:cNvPicPr preferRelativeResize="0"/>
          <p:nvPr/>
        </p:nvPicPr>
        <p:blipFill rotWithShape="1">
          <a:blip r:embed="rId6">
            <a:alphaModFix/>
          </a:blip>
          <a:srcRect b="0" l="0" r="0" t="0"/>
          <a:stretch/>
        </p:blipFill>
        <p:spPr>
          <a:xfrm>
            <a:off x="10060321" y="3037038"/>
            <a:ext cx="1634371" cy="1634371"/>
          </a:xfrm>
          <a:prstGeom prst="rect">
            <a:avLst/>
          </a:prstGeom>
          <a:noFill/>
          <a:ln>
            <a:noFill/>
          </a:ln>
        </p:spPr>
      </p:pic>
      <p:pic>
        <p:nvPicPr>
          <p:cNvPr descr="Insight - Free business and finance icons" id="110" name="Google Shape;110;p14"/>
          <p:cNvPicPr preferRelativeResize="0"/>
          <p:nvPr/>
        </p:nvPicPr>
        <p:blipFill rotWithShape="1">
          <a:blip r:embed="rId7">
            <a:alphaModFix/>
          </a:blip>
          <a:srcRect b="0" l="0" r="0" t="0"/>
          <a:stretch/>
        </p:blipFill>
        <p:spPr>
          <a:xfrm>
            <a:off x="6873806" y="3976930"/>
            <a:ext cx="1634371" cy="1634371"/>
          </a:xfrm>
          <a:prstGeom prst="rect">
            <a:avLst/>
          </a:prstGeom>
          <a:noFill/>
          <a:ln>
            <a:noFill/>
          </a:ln>
        </p:spPr>
      </p:pic>
      <p:sp>
        <p:nvSpPr>
          <p:cNvPr id="111" name="Google Shape;111;p14"/>
          <p:cNvSpPr txBox="1"/>
          <p:nvPr/>
        </p:nvSpPr>
        <p:spPr>
          <a:xfrm>
            <a:off x="6633637" y="5657400"/>
            <a:ext cx="2285100" cy="92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Business Insights &amp; Recommendations</a:t>
            </a:r>
            <a:endParaRPr/>
          </a:p>
        </p:txBody>
      </p:sp>
      <p:pic>
        <p:nvPicPr>
          <p:cNvPr id="112" name="Google Shape;112;p14"/>
          <p:cNvPicPr preferRelativeResize="0"/>
          <p:nvPr/>
        </p:nvPicPr>
        <p:blipFill rotWithShape="1">
          <a:blip r:embed="rId8">
            <a:alphaModFix/>
          </a:blip>
          <a:srcRect b="25600" l="0" r="0" t="0"/>
          <a:stretch/>
        </p:blipFill>
        <p:spPr>
          <a:xfrm>
            <a:off x="107736" y="1206514"/>
            <a:ext cx="2285106" cy="1700050"/>
          </a:xfrm>
          <a:prstGeom prst="rect">
            <a:avLst/>
          </a:prstGeom>
          <a:noFill/>
          <a:ln>
            <a:noFill/>
          </a:ln>
        </p:spPr>
      </p:pic>
      <p:sp>
        <p:nvSpPr>
          <p:cNvPr id="113" name="Google Shape;113;p14"/>
          <p:cNvSpPr txBox="1"/>
          <p:nvPr/>
        </p:nvSpPr>
        <p:spPr>
          <a:xfrm>
            <a:off x="212400" y="3330425"/>
            <a:ext cx="2008500" cy="92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rPr>
              <a:t>Data Collection &amp; Preparation</a:t>
            </a:r>
            <a:endParaRPr b="1" sz="1800">
              <a:solidFill>
                <a:schemeClr val="dk1"/>
              </a:solidFill>
            </a:endParaRPr>
          </a:p>
          <a:p>
            <a:pPr indent="0" lvl="0" marL="0" marR="0" rtl="0" algn="l">
              <a:spcBef>
                <a:spcPts val="0"/>
              </a:spcBef>
              <a:spcAft>
                <a:spcPts val="0"/>
              </a:spcAft>
              <a:buNone/>
            </a:pPr>
            <a:r>
              <a:t/>
            </a:r>
            <a:endParaRPr b="1" sz="1800">
              <a:solidFill>
                <a:schemeClr val="dk1"/>
              </a:solidFill>
            </a:endParaRPr>
          </a:p>
        </p:txBody>
      </p:sp>
      <p:sp>
        <p:nvSpPr>
          <p:cNvPr id="114" name="Google Shape;114;p14"/>
          <p:cNvSpPr/>
          <p:nvPr/>
        </p:nvSpPr>
        <p:spPr>
          <a:xfrm>
            <a:off x="2220873" y="1920367"/>
            <a:ext cx="315300" cy="357300"/>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5" name="Google Shape;115;p14"/>
          <p:cNvSpPr/>
          <p:nvPr/>
        </p:nvSpPr>
        <p:spPr>
          <a:xfrm rot="5400000">
            <a:off x="10719841" y="2173363"/>
            <a:ext cx="315300" cy="357300"/>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6" name="Google Shape;116;p14"/>
          <p:cNvSpPr/>
          <p:nvPr/>
        </p:nvSpPr>
        <p:spPr>
          <a:xfrm rot="10800000">
            <a:off x="5883244" y="5191452"/>
            <a:ext cx="315300" cy="357300"/>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7" name="Google Shape;117;p14"/>
          <p:cNvSpPr txBox="1"/>
          <p:nvPr/>
        </p:nvSpPr>
        <p:spPr>
          <a:xfrm>
            <a:off x="3782362" y="5724097"/>
            <a:ext cx="15057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rPr>
              <a:t>Appendix</a:t>
            </a:r>
            <a:endParaRPr b="1" sz="1800">
              <a:solidFill>
                <a:schemeClr val="dk1"/>
              </a:solidFill>
            </a:endParaRPr>
          </a:p>
        </p:txBody>
      </p:sp>
      <p:pic>
        <p:nvPicPr>
          <p:cNvPr id="118" name="Google Shape;118;p14"/>
          <p:cNvPicPr preferRelativeResize="0"/>
          <p:nvPr/>
        </p:nvPicPr>
        <p:blipFill rotWithShape="1">
          <a:blip r:embed="rId9">
            <a:alphaModFix/>
          </a:blip>
          <a:srcRect b="6239" l="0" r="0" t="-6240"/>
          <a:stretch/>
        </p:blipFill>
        <p:spPr>
          <a:xfrm>
            <a:off x="3697325" y="4097216"/>
            <a:ext cx="1700050" cy="1600200"/>
          </a:xfrm>
          <a:prstGeom prst="rect">
            <a:avLst/>
          </a:prstGeom>
          <a:noFill/>
          <a:ln>
            <a:noFill/>
          </a:ln>
        </p:spPr>
      </p:pic>
      <p:sp>
        <p:nvSpPr>
          <p:cNvPr id="119" name="Google Shape;119;p14"/>
          <p:cNvSpPr txBox="1"/>
          <p:nvPr/>
        </p:nvSpPr>
        <p:spPr>
          <a:xfrm>
            <a:off x="10124674" y="4763269"/>
            <a:ext cx="15057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rPr>
              <a:t>Modeling Techniques</a:t>
            </a:r>
            <a:endParaRPr b="1" sz="1800">
              <a:solidFill>
                <a:schemeClr val="dk1"/>
              </a:solidFill>
            </a:endParaRPr>
          </a:p>
          <a:p>
            <a:pPr indent="0" lvl="0" marL="0" marR="0" rtl="0" algn="ctr">
              <a:spcBef>
                <a:spcPts val="0"/>
              </a:spcBef>
              <a:spcAft>
                <a:spcPts val="0"/>
              </a:spcAft>
              <a:buNone/>
            </a:pPr>
            <a:r>
              <a:rPr b="1" lang="en-US" sz="1800">
                <a:solidFill>
                  <a:schemeClr val="dk1"/>
                </a:solidFill>
              </a:rPr>
              <a:t>&amp; Evaluation</a:t>
            </a:r>
            <a:endParaRPr b="1"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5"/>
          <p:cNvSpPr txBox="1"/>
          <p:nvPr>
            <p:ph idx="1" type="body"/>
          </p:nvPr>
        </p:nvSpPr>
        <p:spPr>
          <a:xfrm>
            <a:off x="253750" y="1322950"/>
            <a:ext cx="11720400" cy="5322600"/>
          </a:xfrm>
          <a:prstGeom prst="rect">
            <a:avLst/>
          </a:prstGeom>
        </p:spPr>
        <p:txBody>
          <a:bodyPr anchorCtr="0" anchor="t" bIns="45700" lIns="91425" spcFirstLastPara="1" rIns="91425" wrap="square" tIns="45700">
            <a:normAutofit lnSpcReduction="10000"/>
          </a:bodyPr>
          <a:lstStyle/>
          <a:p>
            <a:pPr indent="457200" lvl="0" marL="0" rtl="0" algn="l">
              <a:spcBef>
                <a:spcPts val="1000"/>
              </a:spcBef>
              <a:spcAft>
                <a:spcPts val="0"/>
              </a:spcAft>
              <a:buNone/>
            </a:pPr>
            <a:r>
              <a:rPr b="1" lang="en-US" sz="1499">
                <a:latin typeface="Times New Roman"/>
                <a:ea typeface="Times New Roman"/>
                <a:cs typeface="Times New Roman"/>
                <a:sym typeface="Times New Roman"/>
              </a:rPr>
              <a:t>Data Source</a:t>
            </a:r>
            <a:r>
              <a:rPr lang="en-US" sz="1499">
                <a:latin typeface="Times New Roman"/>
                <a:ea typeface="Times New Roman"/>
                <a:cs typeface="Times New Roman"/>
                <a:sym typeface="Times New Roman"/>
              </a:rPr>
              <a:t>: </a:t>
            </a:r>
            <a:r>
              <a:rPr lang="en-US" sz="1499" u="sng">
                <a:solidFill>
                  <a:schemeClr val="hlink"/>
                </a:solidFill>
                <a:latin typeface="Times New Roman"/>
                <a:ea typeface="Times New Roman"/>
                <a:cs typeface="Times New Roman"/>
                <a:sym typeface="Times New Roman"/>
                <a:hlinkClick r:id="rId3"/>
              </a:rPr>
              <a:t>20-year Data of Energy Station</a:t>
            </a:r>
            <a:endParaRPr sz="1499">
              <a:latin typeface="Times New Roman"/>
              <a:ea typeface="Times New Roman"/>
              <a:cs typeface="Times New Roman"/>
              <a:sym typeface="Times New Roman"/>
            </a:endParaRPr>
          </a:p>
          <a:p>
            <a:pPr indent="457200" lvl="0" marL="0" rtl="0" algn="l">
              <a:spcBef>
                <a:spcPts val="1200"/>
              </a:spcBef>
              <a:spcAft>
                <a:spcPts val="0"/>
              </a:spcAft>
              <a:buNone/>
            </a:pPr>
            <a:r>
              <a:rPr b="1" lang="en-US" sz="1499">
                <a:latin typeface="Times New Roman"/>
                <a:ea typeface="Times New Roman"/>
                <a:cs typeface="Times New Roman"/>
                <a:sym typeface="Times New Roman"/>
              </a:rPr>
              <a:t>Data Merging - Consolidation &amp; Cleaning (Functions: </a:t>
            </a:r>
            <a:r>
              <a:rPr b="1" lang="en-US" sz="1499">
                <a:solidFill>
                  <a:srgbClr val="188038"/>
                </a:solidFill>
                <a:latin typeface="Times New Roman"/>
                <a:ea typeface="Times New Roman"/>
                <a:cs typeface="Times New Roman"/>
                <a:sym typeface="Times New Roman"/>
              </a:rPr>
              <a:t>merge_paths</a:t>
            </a:r>
            <a:r>
              <a:rPr b="1" lang="en-US" sz="1499">
                <a:latin typeface="Times New Roman"/>
                <a:ea typeface="Times New Roman"/>
                <a:cs typeface="Times New Roman"/>
                <a:sym typeface="Times New Roman"/>
              </a:rPr>
              <a:t>, </a:t>
            </a:r>
            <a:r>
              <a:rPr b="1" lang="en-US" sz="1499">
                <a:solidFill>
                  <a:srgbClr val="188038"/>
                </a:solidFill>
                <a:latin typeface="Times New Roman"/>
                <a:ea typeface="Times New Roman"/>
                <a:cs typeface="Times New Roman"/>
                <a:sym typeface="Times New Roman"/>
              </a:rPr>
              <a:t>data_merger</a:t>
            </a:r>
            <a:r>
              <a:rPr b="1" lang="en-US" sz="1499">
                <a:latin typeface="Times New Roman"/>
                <a:ea typeface="Times New Roman"/>
                <a:cs typeface="Times New Roman"/>
                <a:sym typeface="Times New Roman"/>
              </a:rPr>
              <a:t>, </a:t>
            </a:r>
            <a:r>
              <a:rPr b="1" lang="en-US" sz="1499">
                <a:solidFill>
                  <a:srgbClr val="188038"/>
                </a:solidFill>
                <a:latin typeface="Times New Roman"/>
                <a:ea typeface="Times New Roman"/>
                <a:cs typeface="Times New Roman"/>
                <a:sym typeface="Times New Roman"/>
              </a:rPr>
              <a:t>data_refiner</a:t>
            </a:r>
            <a:r>
              <a:rPr b="1" lang="en-US" sz="1499">
                <a:latin typeface="Times New Roman"/>
                <a:ea typeface="Times New Roman"/>
                <a:cs typeface="Times New Roman"/>
                <a:sym typeface="Times New Roman"/>
              </a:rPr>
              <a:t>)</a:t>
            </a:r>
            <a:endParaRPr b="1" sz="1499">
              <a:latin typeface="Times New Roman"/>
              <a:ea typeface="Times New Roman"/>
              <a:cs typeface="Times New Roman"/>
              <a:sym typeface="Times New Roman"/>
            </a:endParaRPr>
          </a:p>
          <a:p>
            <a:pPr indent="-323788" lvl="0" marL="457200" rtl="0" algn="l">
              <a:lnSpc>
                <a:spcPct val="115000"/>
              </a:lnSpc>
              <a:spcBef>
                <a:spcPts val="1200"/>
              </a:spcBef>
              <a:spcAft>
                <a:spcPts val="0"/>
              </a:spcAft>
              <a:buSzPts val="1499"/>
              <a:buChar char="●"/>
            </a:pPr>
            <a:r>
              <a:rPr b="1" lang="en-US" sz="1499">
                <a:latin typeface="Times New Roman"/>
                <a:ea typeface="Times New Roman"/>
                <a:cs typeface="Times New Roman"/>
                <a:sym typeface="Times New Roman"/>
              </a:rPr>
              <a:t>Source Data:</a:t>
            </a:r>
            <a:r>
              <a:rPr lang="en-US" sz="1499">
                <a:latin typeface="Times New Roman"/>
                <a:ea typeface="Times New Roman"/>
                <a:cs typeface="Times New Roman"/>
                <a:sym typeface="Times New Roman"/>
              </a:rPr>
              <a:t> Hourly data from distributed subdirectories.</a:t>
            </a:r>
            <a:endParaRPr sz="1499">
              <a:latin typeface="Times New Roman"/>
              <a:ea typeface="Times New Roman"/>
              <a:cs typeface="Times New Roman"/>
              <a:sym typeface="Times New Roman"/>
            </a:endParaRPr>
          </a:p>
          <a:p>
            <a:pPr indent="-323788" lvl="0" marL="457200" rtl="0" algn="l">
              <a:lnSpc>
                <a:spcPct val="115000"/>
              </a:lnSpc>
              <a:spcBef>
                <a:spcPts val="0"/>
              </a:spcBef>
              <a:spcAft>
                <a:spcPts val="0"/>
              </a:spcAft>
              <a:buSzPts val="1499"/>
              <a:buChar char="●"/>
            </a:pPr>
            <a:r>
              <a:rPr b="1" lang="en-US" sz="1499">
                <a:latin typeface="Times New Roman"/>
                <a:ea typeface="Times New Roman"/>
                <a:cs typeface="Times New Roman"/>
                <a:sym typeface="Times New Roman"/>
              </a:rPr>
              <a:t>Merge Strategy:</a:t>
            </a:r>
            <a:r>
              <a:rPr lang="en-US" sz="1499">
                <a:latin typeface="Times New Roman"/>
                <a:ea typeface="Times New Roman"/>
                <a:cs typeface="Times New Roman"/>
                <a:sym typeface="Times New Roman"/>
              </a:rPr>
              <a:t> Concatenated files per metric group, then performed an Outer Join on the common 'Date' index to combine all time series.</a:t>
            </a:r>
            <a:endParaRPr sz="1499">
              <a:latin typeface="Times New Roman"/>
              <a:ea typeface="Times New Roman"/>
              <a:cs typeface="Times New Roman"/>
              <a:sym typeface="Times New Roman"/>
            </a:endParaRPr>
          </a:p>
          <a:p>
            <a:pPr indent="-323788" lvl="0" marL="457200" rtl="0" algn="l">
              <a:lnSpc>
                <a:spcPct val="115000"/>
              </a:lnSpc>
              <a:spcBef>
                <a:spcPts val="0"/>
              </a:spcBef>
              <a:spcAft>
                <a:spcPts val="0"/>
              </a:spcAft>
              <a:buSzPts val="1499"/>
              <a:buChar char="●"/>
            </a:pPr>
            <a:r>
              <a:rPr b="1" lang="en-US" sz="1499">
                <a:latin typeface="Times New Roman"/>
                <a:ea typeface="Times New Roman"/>
                <a:cs typeface="Times New Roman"/>
                <a:sym typeface="Times New Roman"/>
              </a:rPr>
              <a:t>Initial Cleanup:</a:t>
            </a:r>
            <a:r>
              <a:rPr lang="en-US" sz="1499">
                <a:latin typeface="Times New Roman"/>
                <a:ea typeface="Times New Roman"/>
                <a:cs typeface="Times New Roman"/>
                <a:sym typeface="Times New Roman"/>
              </a:rPr>
              <a:t> Dropped sparse, redundant, or ambiguous columns (e.g., 'Unnamed', 'Cooling load (GJ)').</a:t>
            </a:r>
            <a:endParaRPr sz="1499">
              <a:latin typeface="Times New Roman"/>
              <a:ea typeface="Times New Roman"/>
              <a:cs typeface="Times New Roman"/>
              <a:sym typeface="Times New Roman"/>
            </a:endParaRPr>
          </a:p>
          <a:p>
            <a:pPr indent="-323788" lvl="0" marL="457200" rtl="0" algn="l">
              <a:lnSpc>
                <a:spcPct val="115000"/>
              </a:lnSpc>
              <a:spcBef>
                <a:spcPts val="0"/>
              </a:spcBef>
              <a:spcAft>
                <a:spcPts val="0"/>
              </a:spcAft>
              <a:buSzPts val="1499"/>
              <a:buChar char="●"/>
            </a:pPr>
            <a:r>
              <a:rPr b="1" lang="en-US" sz="1499">
                <a:latin typeface="Times New Roman"/>
                <a:ea typeface="Times New Roman"/>
                <a:cs typeface="Times New Roman"/>
                <a:sym typeface="Times New Roman"/>
              </a:rPr>
              <a:t>Standardization:</a:t>
            </a:r>
            <a:r>
              <a:rPr lang="en-US" sz="1499">
                <a:latin typeface="Times New Roman"/>
                <a:ea typeface="Times New Roman"/>
                <a:cs typeface="Times New Roman"/>
                <a:sym typeface="Times New Roman"/>
              </a:rPr>
              <a:t> All remaining columns were renamed for clarity (e.g., </a:t>
            </a:r>
            <a:r>
              <a:rPr lang="en-US" sz="1499">
                <a:solidFill>
                  <a:srgbClr val="188038"/>
                </a:solidFill>
                <a:latin typeface="Times New Roman"/>
                <a:ea typeface="Times New Roman"/>
                <a:cs typeface="Times New Roman"/>
                <a:sym typeface="Times New Roman"/>
              </a:rPr>
              <a:t>PV_Generation_kW</a:t>
            </a:r>
            <a:r>
              <a:rPr lang="en-US" sz="1499">
                <a:latin typeface="Times New Roman"/>
                <a:ea typeface="Times New Roman"/>
                <a:cs typeface="Times New Roman"/>
                <a:sym typeface="Times New Roman"/>
              </a:rPr>
              <a:t>, </a:t>
            </a:r>
            <a:r>
              <a:rPr lang="en-US" sz="1499">
                <a:solidFill>
                  <a:srgbClr val="188038"/>
                </a:solidFill>
                <a:latin typeface="Times New Roman"/>
                <a:ea typeface="Times New Roman"/>
                <a:cs typeface="Times New Roman"/>
                <a:sym typeface="Times New Roman"/>
              </a:rPr>
              <a:t>Outdoor_Air_Temp_C</a:t>
            </a:r>
            <a:r>
              <a:rPr lang="en-US" sz="1499">
                <a:latin typeface="Times New Roman"/>
                <a:ea typeface="Times New Roman"/>
                <a:cs typeface="Times New Roman"/>
                <a:sym typeface="Times New Roman"/>
              </a:rPr>
              <a:t>).</a:t>
            </a:r>
            <a:endParaRPr sz="1499">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b="1" lang="en-US" sz="1499">
                <a:latin typeface="Times New Roman"/>
                <a:ea typeface="Times New Roman"/>
                <a:cs typeface="Times New Roman"/>
                <a:sym typeface="Times New Roman"/>
              </a:rPr>
              <a:t>Imputation &amp; Target Definition:</a:t>
            </a:r>
            <a:endParaRPr b="1" sz="1499">
              <a:latin typeface="Times New Roman"/>
              <a:ea typeface="Times New Roman"/>
              <a:cs typeface="Times New Roman"/>
              <a:sym typeface="Times New Roman"/>
            </a:endParaRPr>
          </a:p>
          <a:p>
            <a:pPr indent="-209488" lvl="0" marL="228600" rtl="0" algn="l">
              <a:lnSpc>
                <a:spcPct val="115000"/>
              </a:lnSpc>
              <a:spcBef>
                <a:spcPts val="1200"/>
              </a:spcBef>
              <a:spcAft>
                <a:spcPts val="0"/>
              </a:spcAft>
              <a:buSzPts val="1499"/>
              <a:buChar char="●"/>
            </a:pPr>
            <a:r>
              <a:rPr b="1" lang="en-US" sz="1499">
                <a:latin typeface="Times New Roman"/>
                <a:ea typeface="Times New Roman"/>
                <a:cs typeface="Times New Roman"/>
                <a:sym typeface="Times New Roman"/>
              </a:rPr>
              <a:t>Missing Data Handling:</a:t>
            </a:r>
            <a:r>
              <a:rPr lang="en-US" sz="1499">
                <a:latin typeface="Times New Roman"/>
                <a:ea typeface="Times New Roman"/>
                <a:cs typeface="Times New Roman"/>
                <a:sym typeface="Times New Roman"/>
              </a:rPr>
              <a:t> Used a K-Nearest Neighbors (KNN) Imputer (5 neighbors) to estimate and fill missing values in numerical features.</a:t>
            </a:r>
            <a:endParaRPr sz="1499">
              <a:latin typeface="Times New Roman"/>
              <a:ea typeface="Times New Roman"/>
              <a:cs typeface="Times New Roman"/>
              <a:sym typeface="Times New Roman"/>
            </a:endParaRPr>
          </a:p>
          <a:p>
            <a:pPr indent="-209488" lvl="0" marL="228600" rtl="0" algn="l">
              <a:lnSpc>
                <a:spcPct val="115000"/>
              </a:lnSpc>
              <a:spcBef>
                <a:spcPts val="0"/>
              </a:spcBef>
              <a:spcAft>
                <a:spcPts val="0"/>
              </a:spcAft>
              <a:buSzPts val="1499"/>
              <a:buFont typeface="Times New Roman"/>
              <a:buChar char="●"/>
            </a:pPr>
            <a:r>
              <a:rPr lang="en-US" sz="1499">
                <a:latin typeface="Times New Roman"/>
                <a:ea typeface="Times New Roman"/>
                <a:cs typeface="Times New Roman"/>
                <a:sym typeface="Times New Roman"/>
              </a:rPr>
              <a:t>Target Variable: Defined the final prediction target:</a:t>
            </a:r>
            <a:br>
              <a:rPr lang="en-US" sz="1499">
                <a:latin typeface="Times New Roman"/>
                <a:ea typeface="Times New Roman"/>
                <a:cs typeface="Times New Roman"/>
                <a:sym typeface="Times New Roman"/>
              </a:rPr>
            </a:br>
            <a:r>
              <a:rPr lang="en-US" sz="1499">
                <a:latin typeface="Times New Roman"/>
                <a:ea typeface="Times New Roman"/>
                <a:cs typeface="Times New Roman"/>
                <a:sym typeface="Times New Roman"/>
              </a:rPr>
              <a:t>TARGET_Total_Electric_Load_kW = Load_A + Load_B</a:t>
            </a:r>
            <a:endParaRPr sz="1499">
              <a:latin typeface="Times New Roman"/>
              <a:ea typeface="Times New Roman"/>
              <a:cs typeface="Times New Roman"/>
              <a:sym typeface="Times New Roman"/>
            </a:endParaRPr>
          </a:p>
          <a:p>
            <a:pPr indent="0" lvl="0" marL="228600" rtl="0" algn="l">
              <a:lnSpc>
                <a:spcPct val="115000"/>
              </a:lnSpc>
              <a:spcBef>
                <a:spcPts val="1200"/>
              </a:spcBef>
              <a:spcAft>
                <a:spcPts val="0"/>
              </a:spcAft>
              <a:buNone/>
            </a:pPr>
            <a:r>
              <a:rPr b="1" lang="en-US" sz="1499">
                <a:latin typeface="Times New Roman"/>
                <a:ea typeface="Times New Roman"/>
                <a:cs typeface="Times New Roman"/>
                <a:sym typeface="Times New Roman"/>
              </a:rPr>
              <a:t>Outlier Management:</a:t>
            </a:r>
            <a:r>
              <a:rPr lang="en-US" sz="1499">
                <a:latin typeface="Times New Roman"/>
                <a:ea typeface="Times New Roman"/>
                <a:cs typeface="Times New Roman"/>
                <a:sym typeface="Times New Roman"/>
              </a:rPr>
              <a:t> Capped extreme values in the target variable using a robust IQR-based method (99th percentile (+-)  3 * IQR).</a:t>
            </a:r>
            <a:endParaRPr sz="1499">
              <a:latin typeface="Times New Roman"/>
              <a:ea typeface="Times New Roman"/>
              <a:cs typeface="Times New Roman"/>
              <a:sym typeface="Times New Roman"/>
            </a:endParaRPr>
          </a:p>
          <a:p>
            <a:pPr indent="0" lvl="0" marL="228600" rtl="0" algn="l">
              <a:lnSpc>
                <a:spcPct val="115000"/>
              </a:lnSpc>
              <a:spcBef>
                <a:spcPts val="1200"/>
              </a:spcBef>
              <a:spcAft>
                <a:spcPts val="0"/>
              </a:spcAft>
              <a:buNone/>
            </a:pPr>
            <a:r>
              <a:rPr b="1" lang="en-US" sz="1499">
                <a:latin typeface="Times New Roman"/>
                <a:ea typeface="Times New Roman"/>
                <a:cs typeface="Times New Roman"/>
                <a:sym typeface="Times New Roman"/>
              </a:rPr>
              <a:t>Feature Engineering (Time &amp; Weather):</a:t>
            </a:r>
            <a:endParaRPr b="1" sz="1499">
              <a:latin typeface="Times New Roman"/>
              <a:ea typeface="Times New Roman"/>
              <a:cs typeface="Times New Roman"/>
              <a:sym typeface="Times New Roman"/>
            </a:endParaRPr>
          </a:p>
          <a:p>
            <a:pPr indent="-323788" lvl="0" marL="457200" rtl="0" algn="l">
              <a:lnSpc>
                <a:spcPct val="115000"/>
              </a:lnSpc>
              <a:spcBef>
                <a:spcPts val="1200"/>
              </a:spcBef>
              <a:spcAft>
                <a:spcPts val="0"/>
              </a:spcAft>
              <a:buSzPts val="1499"/>
              <a:buChar char="●"/>
            </a:pPr>
            <a:r>
              <a:rPr b="1" lang="en-US" sz="1499">
                <a:latin typeface="Times New Roman"/>
                <a:ea typeface="Times New Roman"/>
                <a:cs typeface="Times New Roman"/>
                <a:sym typeface="Times New Roman"/>
              </a:rPr>
              <a:t>Time Encoding:</a:t>
            </a:r>
            <a:r>
              <a:rPr lang="en-US" sz="1499">
                <a:latin typeface="Times New Roman"/>
                <a:ea typeface="Times New Roman"/>
                <a:cs typeface="Times New Roman"/>
                <a:sym typeface="Times New Roman"/>
              </a:rPr>
              <a:t> Applied Sine/Cosine transformations to 'Hour', 'Day of Week', and 'Wind Direction' to capture cyclicality.</a:t>
            </a:r>
            <a:endParaRPr sz="1499">
              <a:latin typeface="Times New Roman"/>
              <a:ea typeface="Times New Roman"/>
              <a:cs typeface="Times New Roman"/>
              <a:sym typeface="Times New Roman"/>
            </a:endParaRPr>
          </a:p>
          <a:p>
            <a:pPr indent="-323788" lvl="0" marL="457200" rtl="0" algn="l">
              <a:lnSpc>
                <a:spcPct val="115000"/>
              </a:lnSpc>
              <a:spcBef>
                <a:spcPts val="0"/>
              </a:spcBef>
              <a:spcAft>
                <a:spcPts val="0"/>
              </a:spcAft>
              <a:buSzPts val="1499"/>
              <a:buChar char="●"/>
            </a:pPr>
            <a:r>
              <a:rPr b="1" lang="en-US" sz="1499">
                <a:latin typeface="Times New Roman"/>
                <a:ea typeface="Times New Roman"/>
                <a:cs typeface="Times New Roman"/>
                <a:sym typeface="Times New Roman"/>
              </a:rPr>
              <a:t>Thermal Stress:</a:t>
            </a:r>
            <a:r>
              <a:rPr lang="en-US" sz="1499">
                <a:latin typeface="Times New Roman"/>
                <a:ea typeface="Times New Roman"/>
                <a:cs typeface="Times New Roman"/>
                <a:sym typeface="Times New Roman"/>
              </a:rPr>
              <a:t> Calculated Heating Degree Days (HDD) and Cooling Degree Days (CDD) using a 18 Degree celsius base temperature.</a:t>
            </a:r>
            <a:endParaRPr sz="1499">
              <a:latin typeface="Times New Roman"/>
              <a:ea typeface="Times New Roman"/>
              <a:cs typeface="Times New Roman"/>
              <a:sym typeface="Times New Roman"/>
            </a:endParaRPr>
          </a:p>
          <a:p>
            <a:pPr indent="-323788" lvl="0" marL="457200" rtl="0" algn="l">
              <a:lnSpc>
                <a:spcPct val="115000"/>
              </a:lnSpc>
              <a:spcBef>
                <a:spcPts val="0"/>
              </a:spcBef>
              <a:spcAft>
                <a:spcPts val="0"/>
              </a:spcAft>
              <a:buSzPts val="1499"/>
              <a:buChar char="●"/>
            </a:pPr>
            <a:r>
              <a:rPr b="1" lang="en-US" sz="1499">
                <a:latin typeface="Times New Roman"/>
                <a:ea typeface="Times New Roman"/>
                <a:cs typeface="Times New Roman"/>
                <a:sym typeface="Times New Roman"/>
              </a:rPr>
              <a:t>Lag &amp; Trend:</a:t>
            </a:r>
            <a:r>
              <a:rPr lang="en-US" sz="1499">
                <a:latin typeface="Times New Roman"/>
                <a:ea typeface="Times New Roman"/>
                <a:cs typeface="Times New Roman"/>
                <a:sym typeface="Times New Roman"/>
              </a:rPr>
              <a:t> Created a 24-hour lagged load feature and an Exponentially Weighted Moving Average (EWMA) for recent trend capture.</a:t>
            </a:r>
            <a:endParaRPr sz="1499">
              <a:latin typeface="Times New Roman"/>
              <a:ea typeface="Times New Roman"/>
              <a:cs typeface="Times New Roman"/>
              <a:sym typeface="Times New Roman"/>
            </a:endParaRPr>
          </a:p>
          <a:p>
            <a:pPr indent="-323788" lvl="0" marL="457200" rtl="0" algn="l">
              <a:lnSpc>
                <a:spcPct val="115000"/>
              </a:lnSpc>
              <a:spcBef>
                <a:spcPts val="0"/>
              </a:spcBef>
              <a:spcAft>
                <a:spcPts val="0"/>
              </a:spcAft>
              <a:buSzPts val="1499"/>
              <a:buChar char="●"/>
            </a:pPr>
            <a:r>
              <a:rPr b="1" lang="en-US" sz="1499">
                <a:latin typeface="Times New Roman"/>
                <a:ea typeface="Times New Roman"/>
                <a:cs typeface="Times New Roman"/>
                <a:sym typeface="Times New Roman"/>
              </a:rPr>
              <a:t>Context:</a:t>
            </a:r>
            <a:r>
              <a:rPr lang="en-US" sz="1499">
                <a:latin typeface="Times New Roman"/>
                <a:ea typeface="Times New Roman"/>
                <a:cs typeface="Times New Roman"/>
                <a:sym typeface="Times New Roman"/>
              </a:rPr>
              <a:t> Identified and included a binary 'Is_Holiday' feature.</a:t>
            </a:r>
            <a:endParaRPr sz="1499">
              <a:latin typeface="Times New Roman"/>
              <a:ea typeface="Times New Roman"/>
              <a:cs typeface="Times New Roman"/>
              <a:sym typeface="Times New Roman"/>
            </a:endParaRPr>
          </a:p>
          <a:p>
            <a:pPr indent="0" lvl="0" marL="0" rtl="0" algn="l">
              <a:spcBef>
                <a:spcPts val="1200"/>
              </a:spcBef>
              <a:spcAft>
                <a:spcPts val="1200"/>
              </a:spcAft>
              <a:buNone/>
            </a:pPr>
            <a:r>
              <a:t/>
            </a:r>
            <a:endParaRPr sz="1800">
              <a:latin typeface="Times New Roman"/>
              <a:ea typeface="Times New Roman"/>
              <a:cs typeface="Times New Roman"/>
              <a:sym typeface="Times New Roman"/>
            </a:endParaRPr>
          </a:p>
        </p:txBody>
      </p:sp>
      <p:sp>
        <p:nvSpPr>
          <p:cNvPr id="126" name="Google Shape;126;p15"/>
          <p:cNvSpPr/>
          <p:nvPr/>
        </p:nvSpPr>
        <p:spPr>
          <a:xfrm>
            <a:off x="0" y="0"/>
            <a:ext cx="12192000" cy="10878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7" name="Google Shape;127;p15"/>
          <p:cNvSpPr txBox="1"/>
          <p:nvPr>
            <p:ph type="title"/>
          </p:nvPr>
        </p:nvSpPr>
        <p:spPr>
          <a:xfrm>
            <a:off x="28904" y="-2739"/>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Times New Roman"/>
              <a:buNone/>
            </a:pPr>
            <a:r>
              <a:rPr b="1" lang="en-US">
                <a:solidFill>
                  <a:srgbClr val="F2F2F2"/>
                </a:solidFill>
                <a:latin typeface="Times New Roman"/>
                <a:ea typeface="Times New Roman"/>
                <a:cs typeface="Times New Roman"/>
                <a:sym typeface="Times New Roman"/>
              </a:rPr>
              <a:t>Data Merging and Preparation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6"/>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3" name="Google Shape;133;p16"/>
          <p:cNvSpPr txBox="1"/>
          <p:nvPr>
            <p:ph type="title"/>
          </p:nvPr>
        </p:nvSpPr>
        <p:spPr>
          <a:xfrm>
            <a:off x="28904" y="-273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Times New Roman"/>
              <a:buNone/>
            </a:pPr>
            <a:r>
              <a:rPr b="1" lang="en-US">
                <a:solidFill>
                  <a:srgbClr val="F2F2F2"/>
                </a:solidFill>
                <a:latin typeface="Times New Roman"/>
                <a:ea typeface="Times New Roman"/>
                <a:cs typeface="Times New Roman"/>
                <a:sym typeface="Times New Roman"/>
              </a:rPr>
              <a:t>Exploratory Data analysis</a:t>
            </a:r>
            <a:endParaRPr/>
          </a:p>
        </p:txBody>
      </p:sp>
      <p:sp>
        <p:nvSpPr>
          <p:cNvPr id="134" name="Google Shape;134;p16"/>
          <p:cNvSpPr txBox="1"/>
          <p:nvPr>
            <p:ph idx="1" type="body"/>
          </p:nvPr>
        </p:nvSpPr>
        <p:spPr>
          <a:xfrm>
            <a:off x="89825" y="1322825"/>
            <a:ext cx="10515600" cy="1928700"/>
          </a:xfrm>
          <a:prstGeom prst="rect">
            <a:avLst/>
          </a:prstGeom>
          <a:noFill/>
          <a:ln>
            <a:noFill/>
          </a:ln>
        </p:spPr>
        <p:txBody>
          <a:bodyPr anchorCtr="0" anchor="t" bIns="45700" lIns="91425" spcFirstLastPara="1" rIns="91425" wrap="square" tIns="45700">
            <a:noAutofit/>
          </a:bodyPr>
          <a:lstStyle/>
          <a:p>
            <a:pPr indent="-216534" lvl="0" marL="228600" rtl="0" algn="l">
              <a:lnSpc>
                <a:spcPct val="90000"/>
              </a:lnSpc>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Data set was having 187728 rows and 34 features</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No null values were present in the data</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Continuous and discrete data</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Data types -&gt;</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br>
              <a:rPr lang="en-US"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p:txBody>
      </p:sp>
      <p:pic>
        <p:nvPicPr>
          <p:cNvPr descr="Exploratory analysis - Free computer icons" id="135" name="Google Shape;135;p16"/>
          <p:cNvPicPr preferRelativeResize="0"/>
          <p:nvPr/>
        </p:nvPicPr>
        <p:blipFill rotWithShape="1">
          <a:blip r:embed="rId3">
            <a:alphaModFix/>
          </a:blip>
          <a:srcRect b="0" l="0" r="0" t="0"/>
          <a:stretch/>
        </p:blipFill>
        <p:spPr>
          <a:xfrm>
            <a:off x="11030647" y="2626"/>
            <a:ext cx="1103555" cy="1103555"/>
          </a:xfrm>
          <a:prstGeom prst="rect">
            <a:avLst/>
          </a:prstGeom>
          <a:noFill/>
          <a:ln>
            <a:noFill/>
          </a:ln>
        </p:spPr>
      </p:pic>
      <p:graphicFrame>
        <p:nvGraphicFramePr>
          <p:cNvPr id="136" name="Google Shape;136;p16"/>
          <p:cNvGraphicFramePr/>
          <p:nvPr/>
        </p:nvGraphicFramePr>
        <p:xfrm>
          <a:off x="6639863" y="1509914"/>
          <a:ext cx="3000000" cy="3000000"/>
        </p:xfrm>
        <a:graphic>
          <a:graphicData uri="http://schemas.openxmlformats.org/drawingml/2006/table">
            <a:tbl>
              <a:tblPr bandRow="1" firstRow="1">
                <a:noFill/>
                <a:tableStyleId>{FB812197-779C-4D4B-9A48-D510BFC2441A}</a:tableStyleId>
              </a:tblPr>
              <a:tblGrid>
                <a:gridCol w="2555750"/>
                <a:gridCol w="2555750"/>
              </a:tblGrid>
              <a:tr h="365750">
                <a:tc>
                  <a:txBody>
                    <a:bodyPr/>
                    <a:lstStyle/>
                    <a:p>
                      <a:pPr indent="0" lvl="0" marL="0" marR="0" rtl="0" algn="l">
                        <a:spcBef>
                          <a:spcPts val="0"/>
                        </a:spcBef>
                        <a:spcAft>
                          <a:spcPts val="0"/>
                        </a:spcAft>
                        <a:buNone/>
                      </a:pPr>
                      <a:r>
                        <a:rPr lang="en-US" sz="1800" u="none" cap="none" strike="noStrike"/>
                        <a:t>Data Type</a:t>
                      </a:r>
                      <a:endParaRPr/>
                    </a:p>
                  </a:txBody>
                  <a:tcPr marT="45725" marB="45725" marR="91450" marL="91450"/>
                </a:tc>
                <a:tc>
                  <a:txBody>
                    <a:bodyPr/>
                    <a:lstStyle/>
                    <a:p>
                      <a:pPr indent="0" lvl="0" marL="0" marR="0" rtl="0" algn="l">
                        <a:spcBef>
                          <a:spcPts val="0"/>
                        </a:spcBef>
                        <a:spcAft>
                          <a:spcPts val="0"/>
                        </a:spcAft>
                        <a:buNone/>
                      </a:pPr>
                      <a:r>
                        <a:rPr lang="en-US" sz="1800"/>
                        <a:t>Count</a:t>
                      </a:r>
                      <a:endParaRPr/>
                    </a:p>
                  </a:txBody>
                  <a:tcPr marT="45725" marB="45725" marR="91450" marL="91450"/>
                </a:tc>
              </a:tr>
              <a:tr h="365750">
                <a:tc>
                  <a:txBody>
                    <a:bodyPr/>
                    <a:lstStyle/>
                    <a:p>
                      <a:pPr indent="0" lvl="0" marL="0" marR="0" rtl="0" algn="l">
                        <a:spcBef>
                          <a:spcPts val="0"/>
                        </a:spcBef>
                        <a:spcAft>
                          <a:spcPts val="0"/>
                        </a:spcAft>
                        <a:buNone/>
                      </a:pPr>
                      <a:r>
                        <a:rPr lang="en-US" sz="1800"/>
                        <a:t>datetime64</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r>
              <a:tr h="365750">
                <a:tc>
                  <a:txBody>
                    <a:bodyPr/>
                    <a:lstStyle/>
                    <a:p>
                      <a:pPr indent="0" lvl="0" marL="0" marR="0" rtl="0" algn="l">
                        <a:spcBef>
                          <a:spcPts val="0"/>
                        </a:spcBef>
                        <a:spcAft>
                          <a:spcPts val="0"/>
                        </a:spcAft>
                        <a:buNone/>
                      </a:pPr>
                      <a:r>
                        <a:rPr lang="en-US" sz="1800"/>
                        <a:t>float64</a:t>
                      </a:r>
                      <a:endParaRPr/>
                    </a:p>
                  </a:txBody>
                  <a:tcPr marT="45725" marB="45725" marR="91450" marL="91450"/>
                </a:tc>
                <a:tc>
                  <a:txBody>
                    <a:bodyPr/>
                    <a:lstStyle/>
                    <a:p>
                      <a:pPr indent="0" lvl="0" marL="0" marR="0" rtl="0" algn="l">
                        <a:spcBef>
                          <a:spcPts val="0"/>
                        </a:spcBef>
                        <a:spcAft>
                          <a:spcPts val="0"/>
                        </a:spcAft>
                        <a:buNone/>
                      </a:pPr>
                      <a:r>
                        <a:rPr lang="en-US" sz="1800"/>
                        <a:t>32</a:t>
                      </a:r>
                      <a:endParaRPr/>
                    </a:p>
                  </a:txBody>
                  <a:tcPr marT="45725" marB="45725" marR="91450" marL="91450"/>
                </a:tc>
              </a:tr>
              <a:tr h="365750">
                <a:tc>
                  <a:txBody>
                    <a:bodyPr/>
                    <a:lstStyle/>
                    <a:p>
                      <a:pPr indent="0" lvl="0" marL="0" marR="0" rtl="0" algn="l">
                        <a:spcBef>
                          <a:spcPts val="0"/>
                        </a:spcBef>
                        <a:spcAft>
                          <a:spcPts val="0"/>
                        </a:spcAft>
                        <a:buNone/>
                      </a:pPr>
                      <a:r>
                        <a:rPr lang="en-US" sz="1800"/>
                        <a:t>int64</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r>
            </a:tbl>
          </a:graphicData>
        </a:graphic>
      </p:graphicFrame>
      <p:sp>
        <p:nvSpPr>
          <p:cNvPr id="137" name="Google Shape;137;p16"/>
          <p:cNvSpPr txBox="1"/>
          <p:nvPr>
            <p:ph idx="4294967295" type="body"/>
          </p:nvPr>
        </p:nvSpPr>
        <p:spPr>
          <a:xfrm>
            <a:off x="89825" y="3659275"/>
            <a:ext cx="6592500" cy="3041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a:latin typeface="Times New Roman"/>
                <a:ea typeface="Times New Roman"/>
                <a:cs typeface="Times New Roman"/>
                <a:sym typeface="Times New Roman"/>
              </a:rPr>
              <a:t>Total Electric Load Over Time:</a:t>
            </a:r>
            <a:endParaRPr b="1">
              <a:latin typeface="Times New Roman"/>
              <a:ea typeface="Times New Roman"/>
              <a:cs typeface="Times New Roman"/>
              <a:sym typeface="Times New Roman"/>
            </a:endParaRPr>
          </a:p>
          <a:p>
            <a:pPr indent="-203200" lvl="0" marL="22860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 Demand rising and falling consistently across years</a:t>
            </a:r>
            <a:endParaRPr sz="2400">
              <a:latin typeface="Times New Roman"/>
              <a:ea typeface="Times New Roman"/>
              <a:cs typeface="Times New Roman"/>
              <a:sym typeface="Times New Roman"/>
            </a:endParaRPr>
          </a:p>
          <a:p>
            <a:pPr indent="-203200"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Noticeable peaks likely caused by extreme weather or operational spikes</a:t>
            </a:r>
            <a:endParaRPr sz="2400">
              <a:latin typeface="Times New Roman"/>
              <a:ea typeface="Times New Roman"/>
              <a:cs typeface="Times New Roman"/>
              <a:sym typeface="Times New Roman"/>
            </a:endParaRPr>
          </a:p>
          <a:p>
            <a:pPr indent="-203200"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Overall trend remains relatively stable</a:t>
            </a:r>
            <a:endParaRPr sz="2400">
              <a:latin typeface="Times New Roman"/>
              <a:ea typeface="Times New Roman"/>
              <a:cs typeface="Times New Roman"/>
              <a:sym typeface="Times New Roman"/>
            </a:endParaRPr>
          </a:p>
          <a:p>
            <a:pPr indent="-203200"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Energy system has strong nonlinear behavior</a:t>
            </a:r>
            <a:endParaRPr sz="2400">
              <a:latin typeface="Times New Roman"/>
              <a:ea typeface="Times New Roman"/>
              <a:cs typeface="Times New Roman"/>
              <a:sym typeface="Times New Roman"/>
            </a:endParaRPr>
          </a:p>
        </p:txBody>
      </p:sp>
      <p:cxnSp>
        <p:nvCxnSpPr>
          <p:cNvPr id="138" name="Google Shape;138;p16"/>
          <p:cNvCxnSpPr/>
          <p:nvPr/>
        </p:nvCxnSpPr>
        <p:spPr>
          <a:xfrm>
            <a:off x="58075" y="3316100"/>
            <a:ext cx="12051600" cy="0"/>
          </a:xfrm>
          <a:prstGeom prst="straightConnector1">
            <a:avLst/>
          </a:prstGeom>
          <a:noFill/>
          <a:ln cap="flat" cmpd="sng" w="9525">
            <a:solidFill>
              <a:schemeClr val="dk2"/>
            </a:solidFill>
            <a:prstDash val="solid"/>
            <a:round/>
            <a:headEnd len="med" w="med" type="none"/>
            <a:tailEnd len="med" w="med" type="none"/>
          </a:ln>
        </p:spPr>
      </p:cxnSp>
      <p:pic>
        <p:nvPicPr>
          <p:cNvPr id="139" name="Google Shape;139;p16"/>
          <p:cNvPicPr preferRelativeResize="0"/>
          <p:nvPr/>
        </p:nvPicPr>
        <p:blipFill rotWithShape="1">
          <a:blip r:embed="rId4">
            <a:alphaModFix/>
          </a:blip>
          <a:srcRect b="0" l="0" r="0" t="0"/>
          <a:stretch/>
        </p:blipFill>
        <p:spPr>
          <a:xfrm>
            <a:off x="6877487" y="3582900"/>
            <a:ext cx="4873887" cy="3117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5" name="Google Shape;145;p17"/>
          <p:cNvSpPr txBox="1"/>
          <p:nvPr>
            <p:ph type="title"/>
          </p:nvPr>
        </p:nvSpPr>
        <p:spPr>
          <a:xfrm>
            <a:off x="13139" y="777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Play"/>
              <a:buNone/>
            </a:pPr>
            <a:r>
              <a:rPr b="1" lang="en-US">
                <a:solidFill>
                  <a:srgbClr val="F2F2F2"/>
                </a:solidFill>
                <a:latin typeface="Times New Roman"/>
                <a:ea typeface="Times New Roman"/>
                <a:cs typeface="Times New Roman"/>
                <a:sym typeface="Times New Roman"/>
              </a:rPr>
              <a:t>Distribution of Electric Load</a:t>
            </a:r>
            <a:endParaRPr>
              <a:latin typeface="Times New Roman"/>
              <a:ea typeface="Times New Roman"/>
              <a:cs typeface="Times New Roman"/>
              <a:sym typeface="Times New Roman"/>
            </a:endParaRPr>
          </a:p>
        </p:txBody>
      </p:sp>
      <p:sp>
        <p:nvSpPr>
          <p:cNvPr id="146" name="Google Shape;146;p17"/>
          <p:cNvSpPr txBox="1"/>
          <p:nvPr>
            <p:ph idx="2" type="body"/>
          </p:nvPr>
        </p:nvSpPr>
        <p:spPr>
          <a:xfrm>
            <a:off x="6682409" y="1825625"/>
            <a:ext cx="5181600" cy="4351338"/>
          </a:xfrm>
          <a:prstGeom prst="rect">
            <a:avLst/>
          </a:prstGeom>
          <a:noFill/>
          <a:ln>
            <a:noFill/>
          </a:ln>
        </p:spPr>
        <p:txBody>
          <a:bodyPr anchorCtr="0" anchor="t" bIns="45700" lIns="91425" spcFirstLastPara="1" rIns="91425" wrap="square" tIns="45700">
            <a:noAutofit/>
          </a:bodyPr>
          <a:lstStyle/>
          <a:p>
            <a:pPr indent="-216534" lvl="0" marL="228600" rtl="0" algn="l">
              <a:lnSpc>
                <a:spcPct val="90000"/>
              </a:lnSpc>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Distribution of total electric load is right-skewed.</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Most energy consumption values fall between 900–1500 kW.</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Frequency sharply drops as load increases.</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Daily operations fluctuate within a stable mid-range.</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Extreme peaks occur occasionally due to seasonal changes, weather effects, or sudden demand spikes.</a:t>
            </a:r>
            <a:endParaRPr sz="2400">
              <a:latin typeface="Times New Roman"/>
              <a:ea typeface="Times New Roman"/>
              <a:cs typeface="Times New Roman"/>
              <a:sym typeface="Times New Roman"/>
            </a:endParaRPr>
          </a:p>
          <a:p>
            <a:pPr indent="-64135" lvl="0" marL="228600" rtl="0" algn="l">
              <a:lnSpc>
                <a:spcPct val="90000"/>
              </a:lnSpc>
              <a:spcBef>
                <a:spcPts val="1000"/>
              </a:spcBef>
              <a:spcAft>
                <a:spcPts val="0"/>
              </a:spcAft>
              <a:buClr>
                <a:schemeClr val="dk1"/>
              </a:buClr>
              <a:buSzPts val="2800"/>
              <a:buNone/>
            </a:pPr>
            <a:r>
              <a:t/>
            </a:r>
            <a:endParaRPr sz="2400">
              <a:latin typeface="Times New Roman"/>
              <a:ea typeface="Times New Roman"/>
              <a:cs typeface="Times New Roman"/>
              <a:sym typeface="Times New Roman"/>
            </a:endParaRPr>
          </a:p>
        </p:txBody>
      </p:sp>
      <p:pic>
        <p:nvPicPr>
          <p:cNvPr id="147" name="Google Shape;147;p17"/>
          <p:cNvPicPr preferRelativeResize="0"/>
          <p:nvPr/>
        </p:nvPicPr>
        <p:blipFill rotWithShape="1">
          <a:blip r:embed="rId3">
            <a:alphaModFix/>
          </a:blip>
          <a:srcRect b="0" l="0" r="0" t="0"/>
          <a:stretch/>
        </p:blipFill>
        <p:spPr>
          <a:xfrm>
            <a:off x="40705" y="1825625"/>
            <a:ext cx="6578755" cy="46334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8"/>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3" name="Google Shape;153;p18"/>
          <p:cNvSpPr txBox="1"/>
          <p:nvPr>
            <p:ph type="title"/>
          </p:nvPr>
        </p:nvSpPr>
        <p:spPr>
          <a:xfrm>
            <a:off x="18394" y="252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Play"/>
              <a:buNone/>
            </a:pPr>
            <a:r>
              <a:rPr b="1" lang="en-US">
                <a:solidFill>
                  <a:srgbClr val="F2F2F2"/>
                </a:solidFill>
                <a:latin typeface="Times New Roman"/>
                <a:ea typeface="Times New Roman"/>
                <a:cs typeface="Times New Roman"/>
                <a:sym typeface="Times New Roman"/>
              </a:rPr>
              <a:t>Per Day Energy Consumption Pattern</a:t>
            </a:r>
            <a:endParaRPr>
              <a:latin typeface="Times New Roman"/>
              <a:ea typeface="Times New Roman"/>
              <a:cs typeface="Times New Roman"/>
              <a:sym typeface="Times New Roman"/>
            </a:endParaRPr>
          </a:p>
        </p:txBody>
      </p:sp>
      <p:sp>
        <p:nvSpPr>
          <p:cNvPr id="154" name="Google Shape;154;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155" name="Google Shape;155;p18"/>
          <p:cNvSpPr txBox="1"/>
          <p:nvPr>
            <p:ph idx="2" type="body"/>
          </p:nvPr>
        </p:nvSpPr>
        <p:spPr>
          <a:xfrm>
            <a:off x="7759147" y="2027583"/>
            <a:ext cx="3972339" cy="4149380"/>
          </a:xfrm>
          <a:prstGeom prst="rect">
            <a:avLst/>
          </a:prstGeom>
          <a:noFill/>
          <a:ln>
            <a:noFill/>
          </a:ln>
        </p:spPr>
        <p:txBody>
          <a:bodyPr anchorCtr="0" anchor="t" bIns="45700" lIns="91425" spcFirstLastPara="1" rIns="91425" wrap="square" tIns="45700">
            <a:noAutofit/>
          </a:bodyPr>
          <a:lstStyle/>
          <a:p>
            <a:pPr indent="-216534" lvl="0" marL="228600" rtl="0" algn="l">
              <a:lnSpc>
                <a:spcPct val="90000"/>
              </a:lnSpc>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Strong daily consumption pattern.</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Stays low during early morning hours (1–6 AM).</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 Rapidly increases after 7 AM.</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Peaking between 11 AM and 3 PM. </a:t>
            </a:r>
            <a:endParaRPr sz="2400">
              <a:latin typeface="Times New Roman"/>
              <a:ea typeface="Times New Roman"/>
              <a:cs typeface="Times New Roman"/>
              <a:sym typeface="Times New Roman"/>
            </a:endParaRPr>
          </a:p>
          <a:p>
            <a:pPr indent="-216534"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After the afternoon peak, the load gradually decreases through the evening.</a:t>
            </a:r>
            <a:endParaRPr sz="2400">
              <a:latin typeface="Times New Roman"/>
              <a:ea typeface="Times New Roman"/>
              <a:cs typeface="Times New Roman"/>
              <a:sym typeface="Times New Roman"/>
            </a:endParaRPr>
          </a:p>
        </p:txBody>
      </p:sp>
      <p:pic>
        <p:nvPicPr>
          <p:cNvPr id="156" name="Google Shape;156;p18"/>
          <p:cNvPicPr preferRelativeResize="0"/>
          <p:nvPr/>
        </p:nvPicPr>
        <p:blipFill rotWithShape="1">
          <a:blip r:embed="rId3">
            <a:alphaModFix/>
          </a:blip>
          <a:srcRect b="0" l="0" r="0" t="0"/>
          <a:stretch/>
        </p:blipFill>
        <p:spPr>
          <a:xfrm>
            <a:off x="0" y="1825625"/>
            <a:ext cx="7578512" cy="423061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9"/>
          <p:cNvSpPr/>
          <p:nvPr/>
        </p:nvSpPr>
        <p:spPr>
          <a:xfrm>
            <a:off x="0" y="0"/>
            <a:ext cx="12192000" cy="12009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2" name="Google Shape;162;p19"/>
          <p:cNvSpPr txBox="1"/>
          <p:nvPr>
            <p:ph type="title"/>
          </p:nvPr>
        </p:nvSpPr>
        <p:spPr>
          <a:xfrm>
            <a:off x="0" y="0"/>
            <a:ext cx="11501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Play"/>
              <a:buNone/>
            </a:pPr>
            <a:r>
              <a:rPr b="1" lang="en-US">
                <a:solidFill>
                  <a:srgbClr val="F2F2F2"/>
                </a:solidFill>
                <a:latin typeface="Times New Roman"/>
                <a:ea typeface="Times New Roman"/>
                <a:cs typeface="Times New Roman"/>
                <a:sym typeface="Times New Roman"/>
              </a:rPr>
              <a:t>Relationship of Grid Import and Total Load</a:t>
            </a:r>
            <a:endParaRPr>
              <a:latin typeface="Times New Roman"/>
              <a:ea typeface="Times New Roman"/>
              <a:cs typeface="Times New Roman"/>
              <a:sym typeface="Times New Roman"/>
            </a:endParaRPr>
          </a:p>
        </p:txBody>
      </p:sp>
      <p:sp>
        <p:nvSpPr>
          <p:cNvPr id="163" name="Google Shape;163;p19"/>
          <p:cNvSpPr txBox="1"/>
          <p:nvPr>
            <p:ph idx="1" type="body"/>
          </p:nvPr>
        </p:nvSpPr>
        <p:spPr>
          <a:xfrm>
            <a:off x="838200" y="3885221"/>
            <a:ext cx="2061742" cy="2291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164" name="Google Shape;164;p19"/>
          <p:cNvSpPr txBox="1"/>
          <p:nvPr>
            <p:ph idx="2" type="body"/>
          </p:nvPr>
        </p:nvSpPr>
        <p:spPr>
          <a:xfrm>
            <a:off x="7578500" y="2140475"/>
            <a:ext cx="4124100" cy="3837000"/>
          </a:xfrm>
          <a:prstGeom prst="rect">
            <a:avLst/>
          </a:prstGeom>
          <a:noFill/>
          <a:ln>
            <a:noFill/>
          </a:ln>
        </p:spPr>
        <p:txBody>
          <a:bodyPr anchorCtr="0" anchor="t" bIns="45700" lIns="91425" spcFirstLastPara="1" rIns="91425" wrap="square" tIns="45700">
            <a:normAutofit/>
          </a:bodyPr>
          <a:lstStyle/>
          <a:p>
            <a:pPr indent="-203200" lvl="0" marL="228600" rtl="0" algn="l">
              <a:lnSpc>
                <a:spcPct val="90000"/>
              </a:lnSpc>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Strong positive linear relationship. </a:t>
            </a:r>
            <a:endParaRPr sz="2400">
              <a:latin typeface="Times New Roman"/>
              <a:ea typeface="Times New Roman"/>
              <a:cs typeface="Times New Roman"/>
              <a:sym typeface="Times New Roman"/>
            </a:endParaRPr>
          </a:p>
          <a:p>
            <a:pPr indent="-203200"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Total demand increases, the grid consistently supplies more.</a:t>
            </a:r>
            <a:endParaRPr sz="2400">
              <a:latin typeface="Times New Roman"/>
              <a:ea typeface="Times New Roman"/>
              <a:cs typeface="Times New Roman"/>
              <a:sym typeface="Times New Roman"/>
            </a:endParaRPr>
          </a:p>
          <a:p>
            <a:pPr indent="-203200" lvl="0" marL="228600" rtl="0" algn="l">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Tight clustering and parallel bands indicate operational patterns.</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sz="2400">
              <a:latin typeface="Times New Roman"/>
              <a:ea typeface="Times New Roman"/>
              <a:cs typeface="Times New Roman"/>
              <a:sym typeface="Times New Roman"/>
            </a:endParaRPr>
          </a:p>
        </p:txBody>
      </p:sp>
      <p:pic>
        <p:nvPicPr>
          <p:cNvPr id="165" name="Google Shape;165;p19"/>
          <p:cNvPicPr preferRelativeResize="0"/>
          <p:nvPr/>
        </p:nvPicPr>
        <p:blipFill rotWithShape="1">
          <a:blip r:embed="rId3">
            <a:alphaModFix/>
          </a:blip>
          <a:srcRect b="0" l="0" r="0" t="0"/>
          <a:stretch/>
        </p:blipFill>
        <p:spPr>
          <a:xfrm>
            <a:off x="402525" y="1746926"/>
            <a:ext cx="6936301" cy="4630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1" name="Google Shape;171;p20"/>
          <p:cNvSpPr txBox="1"/>
          <p:nvPr>
            <p:ph type="title"/>
          </p:nvPr>
        </p:nvSpPr>
        <p:spPr>
          <a:xfrm>
            <a:off x="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Times New Roman"/>
              <a:buNone/>
            </a:pPr>
            <a:r>
              <a:rPr b="1" lang="en-US">
                <a:solidFill>
                  <a:srgbClr val="F2F2F2"/>
                </a:solidFill>
                <a:latin typeface="Times New Roman"/>
                <a:ea typeface="Times New Roman"/>
                <a:cs typeface="Times New Roman"/>
                <a:sym typeface="Times New Roman"/>
              </a:rPr>
              <a:t>Feature Engineering</a:t>
            </a:r>
            <a:endParaRPr/>
          </a:p>
        </p:txBody>
      </p:sp>
      <p:sp>
        <p:nvSpPr>
          <p:cNvPr id="172" name="Google Shape;172;p20"/>
          <p:cNvSpPr txBox="1"/>
          <p:nvPr/>
        </p:nvSpPr>
        <p:spPr>
          <a:xfrm>
            <a:off x="131379" y="1645937"/>
            <a:ext cx="9201900" cy="4248300"/>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Time-based features</a:t>
            </a:r>
            <a:br>
              <a:rPr i="0" lang="en-US" sz="1800" u="none" cap="none" strike="noStrike">
                <a:solidFill>
                  <a:schemeClr val="dk1"/>
                </a:solidFill>
                <a:latin typeface="Times New Roman"/>
                <a:ea typeface="Times New Roman"/>
                <a:cs typeface="Times New Roman"/>
                <a:sym typeface="Times New Roman"/>
              </a:rPr>
            </a:br>
            <a:r>
              <a:rPr i="0" lang="en-US" sz="1800" u="none" cap="none" strike="noStrike">
                <a:solidFill>
                  <a:schemeClr val="dk1"/>
                </a:solidFill>
                <a:latin typeface="Times New Roman"/>
                <a:ea typeface="Times New Roman"/>
                <a:cs typeface="Times New Roman"/>
                <a:sym typeface="Times New Roman"/>
              </a:rPr>
              <a:t>Extracted hour, day, month, and weekday to capture daily, weekly, and seasonal consumption patterns.</a:t>
            </a:r>
            <a:endParaRPr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1800" u="none" cap="none" strike="noStrike">
              <a:solidFill>
                <a:schemeClr val="dk1"/>
              </a:solidFill>
              <a:latin typeface="Times New Roman"/>
              <a:ea typeface="Times New Roman"/>
              <a:cs typeface="Times New Roman"/>
              <a:sym typeface="Times New Roman"/>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Cyclical encodings</a:t>
            </a:r>
            <a:br>
              <a:rPr i="0" lang="en-US" sz="1800" u="none" cap="none" strike="noStrike">
                <a:solidFill>
                  <a:schemeClr val="dk1"/>
                </a:solidFill>
                <a:latin typeface="Times New Roman"/>
                <a:ea typeface="Times New Roman"/>
                <a:cs typeface="Times New Roman"/>
                <a:sym typeface="Times New Roman"/>
              </a:rPr>
            </a:br>
            <a:r>
              <a:rPr i="0" lang="en-US" sz="1800" u="none" cap="none" strike="noStrike">
                <a:solidFill>
                  <a:schemeClr val="dk1"/>
                </a:solidFill>
                <a:latin typeface="Times New Roman"/>
                <a:ea typeface="Times New Roman"/>
                <a:cs typeface="Times New Roman"/>
                <a:sym typeface="Times New Roman"/>
              </a:rPr>
              <a:t>Converted hour-of-day and day-of-week into sine/cosine pairs to represent natural periodicity in energy usage.</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1800" u="none" cap="none" strike="noStrike">
              <a:solidFill>
                <a:schemeClr val="dk1"/>
              </a:solidFill>
              <a:latin typeface="Times New Roman"/>
              <a:ea typeface="Times New Roman"/>
              <a:cs typeface="Times New Roman"/>
              <a:sym typeface="Times New Roman"/>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Temperature stress indicators (HDD/CDD)</a:t>
            </a:r>
            <a:br>
              <a:rPr i="0" lang="en-US" sz="1800" u="none" cap="none" strike="noStrike">
                <a:solidFill>
                  <a:schemeClr val="dk1"/>
                </a:solidFill>
                <a:latin typeface="Times New Roman"/>
                <a:ea typeface="Times New Roman"/>
                <a:cs typeface="Times New Roman"/>
                <a:sym typeface="Times New Roman"/>
              </a:rPr>
            </a:br>
            <a:r>
              <a:rPr i="0" lang="en-US" sz="1800" u="none" cap="none" strike="noStrike">
                <a:solidFill>
                  <a:schemeClr val="dk1"/>
                </a:solidFill>
                <a:latin typeface="Times New Roman"/>
                <a:ea typeface="Times New Roman"/>
                <a:cs typeface="Times New Roman"/>
                <a:sym typeface="Times New Roman"/>
              </a:rPr>
              <a:t>Computed Heating Degree Days and Cooling Degree Days to reflect how extreme weather drives load changes.</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1800" u="none" cap="none" strike="noStrike">
              <a:solidFill>
                <a:schemeClr val="dk1"/>
              </a:solidFill>
              <a:latin typeface="Times New Roman"/>
              <a:ea typeface="Times New Roman"/>
              <a:cs typeface="Times New Roman"/>
              <a:sym typeface="Times New Roman"/>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Lag features (past-only)</a:t>
            </a:r>
            <a:br>
              <a:rPr i="0" lang="en-US" sz="1800" u="none" cap="none" strike="noStrike">
                <a:solidFill>
                  <a:schemeClr val="dk1"/>
                </a:solidFill>
                <a:latin typeface="Times New Roman"/>
                <a:ea typeface="Times New Roman"/>
                <a:cs typeface="Times New Roman"/>
                <a:sym typeface="Times New Roman"/>
              </a:rPr>
            </a:br>
            <a:r>
              <a:rPr i="0" lang="en-US" sz="1800" u="none" cap="none" strike="noStrike">
                <a:solidFill>
                  <a:schemeClr val="dk1"/>
                </a:solidFill>
                <a:latin typeface="Times New Roman"/>
                <a:ea typeface="Times New Roman"/>
                <a:cs typeface="Times New Roman"/>
                <a:sym typeface="Times New Roman"/>
              </a:rPr>
              <a:t>Created lagged versions of the load (previous hour, previous 24 hours) to help the model learn temporal dependencies.</a:t>
            </a:r>
            <a:endParaRPr>
              <a:latin typeface="Times New Roman"/>
              <a:ea typeface="Times New Roman"/>
              <a:cs typeface="Times New Roman"/>
              <a:sym typeface="Times New Roman"/>
            </a:endParaRPr>
          </a:p>
        </p:txBody>
      </p:sp>
      <p:pic>
        <p:nvPicPr>
          <p:cNvPr descr="Feature engineering blue gradient concept icon. Artificial intelligence.  Problem solving in machine learning abstract idea thin line illustration.  Isolated outline drawing. 9725030 Vector Art at Vecteezy" id="173" name="Google Shape;173;p20"/>
          <p:cNvPicPr preferRelativeResize="0"/>
          <p:nvPr/>
        </p:nvPicPr>
        <p:blipFill rotWithShape="1">
          <a:blip r:embed="rId3">
            <a:alphaModFix/>
          </a:blip>
          <a:srcRect b="22047" l="0" r="0" t="0"/>
          <a:stretch/>
        </p:blipFill>
        <p:spPr>
          <a:xfrm>
            <a:off x="8542308" y="2133606"/>
            <a:ext cx="3492062" cy="272217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nvSpPr>
        <p:spPr>
          <a:xfrm>
            <a:off x="6059215" y="1724912"/>
            <a:ext cx="6111900" cy="2308800"/>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Rolling window features</a:t>
            </a:r>
            <a:br>
              <a:rPr i="0" lang="en-US" sz="1800" u="none" cap="none" strike="noStrike">
                <a:solidFill>
                  <a:schemeClr val="dk1"/>
                </a:solidFill>
                <a:latin typeface="Times New Roman"/>
                <a:ea typeface="Times New Roman"/>
                <a:cs typeface="Times New Roman"/>
                <a:sym typeface="Times New Roman"/>
              </a:rPr>
            </a:br>
            <a:r>
              <a:rPr i="0" lang="en-US" sz="1800" u="none" cap="none" strike="noStrike">
                <a:solidFill>
                  <a:schemeClr val="dk1"/>
                </a:solidFill>
                <a:latin typeface="Times New Roman"/>
                <a:ea typeface="Times New Roman"/>
                <a:cs typeface="Times New Roman"/>
                <a:sym typeface="Times New Roman"/>
              </a:rPr>
              <a:t>We generated 24-hour and 48-hour rolling averages and rolling standard deviations to smooth noise and highlight consumption trends.</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1800" u="none" cap="none" strike="noStrike">
              <a:solidFill>
                <a:schemeClr val="dk1"/>
              </a:solidFill>
              <a:latin typeface="Times New Roman"/>
              <a:ea typeface="Times New Roman"/>
              <a:cs typeface="Times New Roman"/>
              <a:sym typeface="Times New Roman"/>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Rate-of-change features</a:t>
            </a:r>
            <a:br>
              <a:rPr i="0" lang="en-US" sz="1800" u="none" cap="none" strike="noStrike">
                <a:solidFill>
                  <a:schemeClr val="dk1"/>
                </a:solidFill>
                <a:latin typeface="Times New Roman"/>
                <a:ea typeface="Times New Roman"/>
                <a:cs typeface="Times New Roman"/>
                <a:sym typeface="Times New Roman"/>
              </a:rPr>
            </a:br>
            <a:r>
              <a:rPr i="0" lang="en-US" sz="1800" u="none" cap="none" strike="noStrike">
                <a:solidFill>
                  <a:schemeClr val="dk1"/>
                </a:solidFill>
                <a:latin typeface="Times New Roman"/>
                <a:ea typeface="Times New Roman"/>
                <a:cs typeface="Times New Roman"/>
                <a:sym typeface="Times New Roman"/>
              </a:rPr>
              <a:t>We added first-difference and percentage-change features to quantify acceleration or deceleration in demand.</a:t>
            </a:r>
            <a:endParaRPr i="0" sz="1800" u="none" cap="none" strike="noStrike">
              <a:solidFill>
                <a:schemeClr val="dk1"/>
              </a:solidFill>
              <a:latin typeface="Times New Roman"/>
              <a:ea typeface="Times New Roman"/>
              <a:cs typeface="Times New Roman"/>
              <a:sym typeface="Times New Roman"/>
            </a:endParaRPr>
          </a:p>
        </p:txBody>
      </p:sp>
      <p:pic>
        <p:nvPicPr>
          <p:cNvPr descr="A graph of a load&#10;&#10;AI-generated content may be incorrect." id="179" name="Google Shape;179;p21"/>
          <p:cNvPicPr preferRelativeResize="0"/>
          <p:nvPr/>
        </p:nvPicPr>
        <p:blipFill rotWithShape="1">
          <a:blip r:embed="rId3">
            <a:alphaModFix/>
          </a:blip>
          <a:srcRect b="1688" l="0" r="0" t="0"/>
          <a:stretch/>
        </p:blipFill>
        <p:spPr>
          <a:xfrm>
            <a:off x="184562" y="1371608"/>
            <a:ext cx="5655232" cy="4724392"/>
          </a:xfrm>
          <a:prstGeom prst="rect">
            <a:avLst/>
          </a:prstGeom>
          <a:noFill/>
          <a:ln>
            <a:noFill/>
          </a:ln>
        </p:spPr>
      </p:pic>
      <p:sp>
        <p:nvSpPr>
          <p:cNvPr id="180" name="Google Shape;180;p21"/>
          <p:cNvSpPr/>
          <p:nvPr/>
        </p:nvSpPr>
        <p:spPr>
          <a:xfrm>
            <a:off x="0" y="0"/>
            <a:ext cx="12192000" cy="10878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1" name="Google Shape;181;p21"/>
          <p:cNvSpPr txBox="1"/>
          <p:nvPr>
            <p:ph type="title"/>
          </p:nvPr>
        </p:nvSpPr>
        <p:spPr>
          <a:xfrm>
            <a:off x="0"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Times New Roman"/>
              <a:buNone/>
            </a:pPr>
            <a:r>
              <a:rPr b="1" lang="en-US">
                <a:solidFill>
                  <a:srgbClr val="F2F2F2"/>
                </a:solidFill>
                <a:latin typeface="Times New Roman"/>
                <a:ea typeface="Times New Roman"/>
                <a:cs typeface="Times New Roman"/>
                <a:sym typeface="Times New Roman"/>
              </a:rPr>
              <a:t>Feature Engineering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7" name="Google Shape;187;p22"/>
          <p:cNvSpPr txBox="1"/>
          <p:nvPr>
            <p:ph type="title"/>
          </p:nvPr>
        </p:nvSpPr>
        <p:spPr>
          <a:xfrm>
            <a:off x="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Play"/>
              <a:buNone/>
            </a:pPr>
            <a:r>
              <a:rPr b="1" lang="en-US">
                <a:solidFill>
                  <a:srgbClr val="F2F2F2"/>
                </a:solidFill>
                <a:latin typeface="Times New Roman"/>
                <a:ea typeface="Times New Roman"/>
                <a:cs typeface="Times New Roman"/>
                <a:sym typeface="Times New Roman"/>
              </a:rPr>
              <a:t>Addressed Data Leakage Issue</a:t>
            </a:r>
            <a:endParaRPr>
              <a:latin typeface="Times New Roman"/>
              <a:ea typeface="Times New Roman"/>
              <a:cs typeface="Times New Roman"/>
              <a:sym typeface="Times New Roman"/>
            </a:endParaRPr>
          </a:p>
        </p:txBody>
      </p:sp>
      <p:sp>
        <p:nvSpPr>
          <p:cNvPr id="188" name="Google Shape;188;p22"/>
          <p:cNvSpPr txBox="1"/>
          <p:nvPr/>
        </p:nvSpPr>
        <p:spPr>
          <a:xfrm>
            <a:off x="714703" y="2352140"/>
            <a:ext cx="7982700" cy="3786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u="none" cap="none" strike="noStrike">
                <a:solidFill>
                  <a:schemeClr val="dk1"/>
                </a:solidFill>
                <a:latin typeface="Times New Roman"/>
                <a:ea typeface="Times New Roman"/>
                <a:cs typeface="Times New Roman"/>
                <a:sym typeface="Times New Roman"/>
              </a:rPr>
              <a:t>We removed columns that-</a:t>
            </a:r>
            <a:endParaRPr sz="2400">
              <a:latin typeface="Times New Roman"/>
              <a:ea typeface="Times New Roman"/>
              <a:cs typeface="Times New Roman"/>
              <a:sym typeface="Times New Roman"/>
            </a:endParaRPr>
          </a:p>
          <a:p>
            <a:pPr indent="0" lvl="0" marL="0" marR="0" rtl="0" algn="l">
              <a:spcBef>
                <a:spcPts val="0"/>
              </a:spcBef>
              <a:spcAft>
                <a:spcPts val="0"/>
              </a:spcAft>
              <a:buNone/>
            </a:pPr>
            <a:r>
              <a:t/>
            </a:r>
            <a:endParaRPr b="1" sz="2400">
              <a:solidFill>
                <a:schemeClr val="dk1"/>
              </a:solidFill>
              <a:latin typeface="Times New Roman"/>
              <a:ea typeface="Times New Roman"/>
              <a:cs typeface="Times New Roman"/>
              <a:sym typeface="Times New Roman"/>
            </a:endParaRPr>
          </a:p>
          <a:p>
            <a:pPr indent="-323850" lvl="0" marL="285750" marR="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Represent components or sub-measures of the target load at the same timestamp.</a:t>
            </a:r>
            <a:endParaRPr sz="2400">
              <a:latin typeface="Times New Roman"/>
              <a:ea typeface="Times New Roman"/>
              <a:cs typeface="Times New Roman"/>
              <a:sym typeface="Times New Roman"/>
            </a:endParaRPr>
          </a:p>
          <a:p>
            <a:pPr indent="-323850" lvl="0" marL="285750" marR="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Contain generation, fuel usage, or operational outputs that are known only after demand is realized.</a:t>
            </a:r>
            <a:endParaRPr sz="2400">
              <a:latin typeface="Times New Roman"/>
              <a:ea typeface="Times New Roman"/>
              <a:cs typeface="Times New Roman"/>
              <a:sym typeface="Times New Roman"/>
            </a:endParaRPr>
          </a:p>
          <a:p>
            <a:pPr indent="-323850" lvl="0" marL="285750" marR="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Provide insight into future system behavior that would not be available in real-time forecasting.</a:t>
            </a:r>
            <a:endParaRPr sz="2400">
              <a:latin typeface="Times New Roman"/>
              <a:ea typeface="Times New Roman"/>
              <a:cs typeface="Times New Roman"/>
              <a:sym typeface="Times New Roman"/>
            </a:endParaRPr>
          </a:p>
          <a:p>
            <a:pPr indent="0" lvl="1" marL="457200" marR="0" rtl="0" algn="l">
              <a:spcBef>
                <a:spcPts val="0"/>
              </a:spcBef>
              <a:spcAft>
                <a:spcPts val="0"/>
              </a:spcAft>
              <a:buNone/>
            </a:pPr>
            <a:br>
              <a:rPr i="0" lang="en-US" sz="2400" u="none" cap="none" strike="noStrike">
                <a:solidFill>
                  <a:schemeClr val="dk1"/>
                </a:solidFill>
                <a:latin typeface="Times New Roman"/>
                <a:ea typeface="Times New Roman"/>
                <a:cs typeface="Times New Roman"/>
                <a:sym typeface="Times New Roman"/>
              </a:rPr>
            </a:br>
            <a:endParaRPr i="0" sz="2400" u="none" cap="none" strike="noStrike">
              <a:solidFill>
                <a:schemeClr val="dk1"/>
              </a:solidFill>
              <a:latin typeface="Times New Roman"/>
              <a:ea typeface="Times New Roman"/>
              <a:cs typeface="Times New Roman"/>
              <a:sym typeface="Times New Roman"/>
            </a:endParaRPr>
          </a:p>
        </p:txBody>
      </p:sp>
      <p:pic>
        <p:nvPicPr>
          <p:cNvPr descr="Data leak - Free security icons" id="189" name="Google Shape;189;p22"/>
          <p:cNvPicPr preferRelativeResize="0"/>
          <p:nvPr/>
        </p:nvPicPr>
        <p:blipFill rotWithShape="1">
          <a:blip r:embed="rId3">
            <a:alphaModFix/>
          </a:blip>
          <a:srcRect b="0" l="0" r="0" t="0"/>
          <a:stretch/>
        </p:blipFill>
        <p:spPr>
          <a:xfrm>
            <a:off x="8833965" y="2441033"/>
            <a:ext cx="2862322" cy="286232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 name="Google Shape;195;p23"/>
          <p:cNvSpPr txBox="1"/>
          <p:nvPr/>
        </p:nvSpPr>
        <p:spPr>
          <a:xfrm>
            <a:off x="220727" y="1395015"/>
            <a:ext cx="117372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800">
                <a:latin typeface="Times New Roman"/>
                <a:ea typeface="Times New Roman"/>
                <a:cs typeface="Times New Roman"/>
                <a:sym typeface="Times New Roman"/>
              </a:rPr>
              <a:t>To ensure a comprehensive and reliable forecasting pipeline, we intentionally selected a diverse set of models. Each model was chosen for a specific statistical and functional reason.</a:t>
            </a:r>
            <a:endParaRPr sz="1800">
              <a:latin typeface="Times New Roman"/>
              <a:ea typeface="Times New Roman"/>
              <a:cs typeface="Times New Roman"/>
              <a:sym typeface="Times New Roman"/>
            </a:endParaRPr>
          </a:p>
        </p:txBody>
      </p:sp>
      <p:sp>
        <p:nvSpPr>
          <p:cNvPr id="196" name="Google Shape;196;p23"/>
          <p:cNvSpPr/>
          <p:nvPr/>
        </p:nvSpPr>
        <p:spPr>
          <a:xfrm>
            <a:off x="220725" y="2189624"/>
            <a:ext cx="5423100" cy="1906500"/>
          </a:xfrm>
          <a:prstGeom prst="roundRect">
            <a:avLst>
              <a:gd fmla="val 16667" name="adj"/>
            </a:avLst>
          </a:prstGeom>
          <a:solidFill>
            <a:schemeClr val="lt1">
              <a:alpha val="94901"/>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7" name="Google Shape;197;p23"/>
          <p:cNvSpPr txBox="1"/>
          <p:nvPr/>
        </p:nvSpPr>
        <p:spPr>
          <a:xfrm>
            <a:off x="401575" y="2284731"/>
            <a:ext cx="52422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1. Linear Regression – Baseline Model</a:t>
            </a:r>
            <a:endParaRPr>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Linear Regression was chosen to establish a fundamental baseline.It helps determine whether the underlying relationships in the data are roughly linear and provides a reference point to evaluate the improvements offered by advanced models.</a:t>
            </a:r>
            <a:endParaRPr sz="1800">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98" name="Google Shape;198;p23"/>
          <p:cNvSpPr/>
          <p:nvPr/>
        </p:nvSpPr>
        <p:spPr>
          <a:xfrm>
            <a:off x="5885075" y="2166099"/>
            <a:ext cx="6086100" cy="1929900"/>
          </a:xfrm>
          <a:prstGeom prst="roundRect">
            <a:avLst>
              <a:gd fmla="val 16667" name="adj"/>
            </a:avLst>
          </a:prstGeom>
          <a:solidFill>
            <a:schemeClr val="lt1">
              <a:alpha val="94901"/>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 name="Google Shape;199;p23"/>
          <p:cNvSpPr/>
          <p:nvPr/>
        </p:nvSpPr>
        <p:spPr>
          <a:xfrm>
            <a:off x="220725" y="4410622"/>
            <a:ext cx="5423100" cy="2031900"/>
          </a:xfrm>
          <a:prstGeom prst="roundRect">
            <a:avLst>
              <a:gd fmla="val 16667" name="adj"/>
            </a:avLst>
          </a:prstGeom>
          <a:solidFill>
            <a:schemeClr val="lt1">
              <a:alpha val="9490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 name="Google Shape;200;p23"/>
          <p:cNvSpPr txBox="1"/>
          <p:nvPr/>
        </p:nvSpPr>
        <p:spPr>
          <a:xfrm>
            <a:off x="333550" y="4480986"/>
            <a:ext cx="52422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1" lang="en-US" sz="1800">
                <a:solidFill>
                  <a:schemeClr val="dk1"/>
                </a:solidFill>
                <a:latin typeface="Times New Roman"/>
                <a:ea typeface="Times New Roman"/>
                <a:cs typeface="Times New Roman"/>
                <a:sym typeface="Times New Roman"/>
              </a:rPr>
              <a:t>3. HistGradientBoosting – Fast, Efficient Boosting for Large Data</a:t>
            </a:r>
            <a:endParaRPr>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HistGradientBoosting was selected because it is optimized for very large datasets like ours (187K rows).It captures nonlinear patterns and complex feature interactions efficiently using histogram binning.</a:t>
            </a:r>
            <a:endParaRPr sz="1800">
              <a:latin typeface="Times New Roman"/>
              <a:ea typeface="Times New Roman"/>
              <a:cs typeface="Times New Roman"/>
              <a:sym typeface="Times New Roman"/>
            </a:endParaRPr>
          </a:p>
        </p:txBody>
      </p:sp>
      <p:sp>
        <p:nvSpPr>
          <p:cNvPr id="201" name="Google Shape;201;p23"/>
          <p:cNvSpPr/>
          <p:nvPr/>
        </p:nvSpPr>
        <p:spPr>
          <a:xfrm>
            <a:off x="5885075" y="4397298"/>
            <a:ext cx="6185700" cy="2031900"/>
          </a:xfrm>
          <a:prstGeom prst="roundRect">
            <a:avLst>
              <a:gd fmla="val 16667" name="adj"/>
            </a:avLst>
          </a:prstGeom>
          <a:solidFill>
            <a:schemeClr val="lt1">
              <a:alpha val="9490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2" name="Google Shape;202;p23"/>
          <p:cNvSpPr txBox="1"/>
          <p:nvPr/>
        </p:nvSpPr>
        <p:spPr>
          <a:xfrm>
            <a:off x="6017375" y="4404284"/>
            <a:ext cx="59406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1" lang="en-US" sz="1800">
                <a:solidFill>
                  <a:schemeClr val="dk1"/>
                </a:solidFill>
                <a:latin typeface="Times New Roman"/>
                <a:ea typeface="Times New Roman"/>
                <a:cs typeface="Times New Roman"/>
                <a:sym typeface="Times New Roman"/>
              </a:rPr>
              <a:t>4</a:t>
            </a:r>
            <a:r>
              <a:rPr b="1" lang="en-US" sz="1800">
                <a:solidFill>
                  <a:schemeClr val="dk1"/>
                </a:solidFill>
                <a:latin typeface="Times New Roman"/>
                <a:ea typeface="Times New Roman"/>
                <a:cs typeface="Times New Roman"/>
                <a:sym typeface="Times New Roman"/>
              </a:rPr>
              <a:t>. LightGBM – High Speed and High Dimensionality</a:t>
            </a:r>
            <a:endParaRPr>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LightGBM was selected for its ability to train extremely fast while maintaining excellent accuracy.</a:t>
            </a:r>
            <a:r>
              <a:rPr lang="en-US" sz="18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Given our engineered features (lags, rolling stats, cyclical encodings), LightGBM is ideal for handling many features and capturing subtle temporal patterns.</a:t>
            </a:r>
            <a:endParaRPr sz="1800">
              <a:latin typeface="Times New Roman"/>
              <a:ea typeface="Times New Roman"/>
              <a:cs typeface="Times New Roman"/>
              <a:sym typeface="Times New Roman"/>
            </a:endParaRPr>
          </a:p>
        </p:txBody>
      </p:sp>
      <p:sp>
        <p:nvSpPr>
          <p:cNvPr id="203" name="Google Shape;203;p23"/>
          <p:cNvSpPr txBox="1"/>
          <p:nvPr/>
        </p:nvSpPr>
        <p:spPr>
          <a:xfrm>
            <a:off x="6017425" y="2269481"/>
            <a:ext cx="59406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1" lang="en-US" sz="1800">
                <a:solidFill>
                  <a:schemeClr val="dk1"/>
                </a:solidFill>
                <a:latin typeface="Times New Roman"/>
                <a:ea typeface="Times New Roman"/>
                <a:cs typeface="Times New Roman"/>
                <a:sym typeface="Times New Roman"/>
              </a:rPr>
              <a:t>2</a:t>
            </a:r>
            <a:r>
              <a:rPr b="1" lang="en-US" sz="1800">
                <a:solidFill>
                  <a:schemeClr val="dk1"/>
                </a:solidFill>
                <a:latin typeface="Times New Roman"/>
                <a:ea typeface="Times New Roman"/>
                <a:cs typeface="Times New Roman"/>
                <a:sym typeface="Times New Roman"/>
              </a:rPr>
              <a:t>. XGBoost – Nonlinear Learner</a:t>
            </a:r>
            <a:endParaRPr>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XGBoost was chosen because it is known to perform well on structured data with noise, seasonality, and nonlinear interactions which is exactly the characteristics of energy load consumption.It also handles outliers and sudden demand spikes effectively.</a:t>
            </a:r>
            <a:endParaRPr sz="1800">
              <a:latin typeface="Times New Roman"/>
              <a:ea typeface="Times New Roman"/>
              <a:cs typeface="Times New Roman"/>
              <a:sym typeface="Times New Roman"/>
            </a:endParaRPr>
          </a:p>
        </p:txBody>
      </p:sp>
      <p:sp>
        <p:nvSpPr>
          <p:cNvPr id="204" name="Google Shape;204;p23"/>
          <p:cNvSpPr txBox="1"/>
          <p:nvPr/>
        </p:nvSpPr>
        <p:spPr>
          <a:xfrm>
            <a:off x="360250" y="160098"/>
            <a:ext cx="111810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400">
                <a:solidFill>
                  <a:srgbClr val="F2F2F2"/>
                </a:solidFill>
                <a:latin typeface="Times New Roman"/>
                <a:ea typeface="Times New Roman"/>
                <a:cs typeface="Times New Roman"/>
                <a:sym typeface="Times New Roman"/>
              </a:rPr>
              <a:t>Modeling Techniques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p:nvPr/>
        </p:nvSpPr>
        <p:spPr>
          <a:xfrm>
            <a:off x="5996450" y="3568500"/>
            <a:ext cx="6050400" cy="1561200"/>
          </a:xfrm>
          <a:prstGeom prst="roundRect">
            <a:avLst>
              <a:gd fmla="val 16667" name="adj"/>
            </a:avLst>
          </a:prstGeom>
          <a:solidFill>
            <a:schemeClr val="lt1">
              <a:alpha val="9490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chemeClr val="lt1"/>
                </a:solidFill>
                <a:latin typeface="Arial"/>
                <a:ea typeface="Arial"/>
                <a:cs typeface="Arial"/>
                <a:sym typeface="Arial"/>
              </a:rPr>
              <a:t>7. AdaBoost – Focus on Hard-to-Predict Samples</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AdaBoost was selected because it adaptively focuses on errors in previous iterations.</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This helps test whether boosting weak learners improves predictions for volatile periods in the load data.</a:t>
            </a:r>
            <a:endParaRPr/>
          </a:p>
        </p:txBody>
      </p:sp>
      <p:sp>
        <p:nvSpPr>
          <p:cNvPr id="210" name="Google Shape;210;p24"/>
          <p:cNvSpPr/>
          <p:nvPr/>
        </p:nvSpPr>
        <p:spPr>
          <a:xfrm>
            <a:off x="118650" y="3212450"/>
            <a:ext cx="5631900" cy="1917300"/>
          </a:xfrm>
          <a:prstGeom prst="roundRect">
            <a:avLst>
              <a:gd fmla="val 16667" name="adj"/>
            </a:avLst>
          </a:prstGeom>
          <a:solidFill>
            <a:schemeClr val="lt1">
              <a:alpha val="9490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1" name="Google Shape;211;p24"/>
          <p:cNvSpPr/>
          <p:nvPr/>
        </p:nvSpPr>
        <p:spPr>
          <a:xfrm>
            <a:off x="118650" y="1182850"/>
            <a:ext cx="5631900" cy="1667700"/>
          </a:xfrm>
          <a:prstGeom prst="roundRect">
            <a:avLst>
              <a:gd fmla="val 16667" name="adj"/>
            </a:avLst>
          </a:prstGeom>
          <a:solidFill>
            <a:schemeClr val="lt1">
              <a:alpha val="9490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2" name="Google Shape;212;p24"/>
          <p:cNvSpPr txBox="1"/>
          <p:nvPr/>
        </p:nvSpPr>
        <p:spPr>
          <a:xfrm>
            <a:off x="240175" y="1231750"/>
            <a:ext cx="5423100" cy="14469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1800"/>
              <a:buFont typeface="Arial"/>
              <a:buNone/>
            </a:pPr>
            <a:r>
              <a:rPr b="1" lang="en-US" sz="1600">
                <a:solidFill>
                  <a:schemeClr val="dk1"/>
                </a:solidFill>
                <a:latin typeface="Times New Roman"/>
                <a:ea typeface="Times New Roman"/>
                <a:cs typeface="Times New Roman"/>
                <a:sym typeface="Times New Roman"/>
              </a:rPr>
              <a:t>5</a:t>
            </a:r>
            <a:r>
              <a:rPr b="1" lang="en-US" sz="1600">
                <a:solidFill>
                  <a:schemeClr val="dk1"/>
                </a:solidFill>
                <a:latin typeface="Times New Roman"/>
                <a:ea typeface="Times New Roman"/>
                <a:cs typeface="Times New Roman"/>
                <a:sym typeface="Times New Roman"/>
              </a:rPr>
              <a:t>. Random Forest</a:t>
            </a:r>
            <a:endParaRPr sz="1600">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Random Forest was included to evaluate bagging-based ensemble learning. It reduces variance effectively and performs well without extensive hyperparameter tuning, making it a good benchmark for nonlinear performance.</a:t>
            </a:r>
            <a:endParaRPr sz="1800">
              <a:latin typeface="Times New Roman"/>
              <a:ea typeface="Times New Roman"/>
              <a:cs typeface="Times New Roman"/>
              <a:sym typeface="Times New Roman"/>
            </a:endParaRPr>
          </a:p>
        </p:txBody>
      </p:sp>
      <p:sp>
        <p:nvSpPr>
          <p:cNvPr id="213" name="Google Shape;213;p24"/>
          <p:cNvSpPr/>
          <p:nvPr/>
        </p:nvSpPr>
        <p:spPr>
          <a:xfrm>
            <a:off x="5997775" y="1182850"/>
            <a:ext cx="6050400" cy="2173500"/>
          </a:xfrm>
          <a:prstGeom prst="roundRect">
            <a:avLst>
              <a:gd fmla="val 16667" name="adj"/>
            </a:avLst>
          </a:prstGeom>
          <a:solidFill>
            <a:schemeClr val="lt1">
              <a:alpha val="9490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chemeClr val="lt1"/>
                </a:solidFill>
                <a:latin typeface="Arial"/>
                <a:ea typeface="Arial"/>
                <a:cs typeface="Arial"/>
                <a:sym typeface="Arial"/>
              </a:rPr>
              <a:t>7. AdaBoost – Focus on Hard-to-Predict Samples</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AdaBoost was selected because it adaptively focuses on errors in previous iterations.</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This helps test whether boosting weak learners improves predictions for volatile periods in the load data.</a:t>
            </a:r>
            <a:endParaRPr/>
          </a:p>
        </p:txBody>
      </p:sp>
      <p:sp>
        <p:nvSpPr>
          <p:cNvPr id="214" name="Google Shape;214;p24"/>
          <p:cNvSpPr txBox="1"/>
          <p:nvPr/>
        </p:nvSpPr>
        <p:spPr>
          <a:xfrm>
            <a:off x="6239154" y="3579825"/>
            <a:ext cx="5401200" cy="1477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1800"/>
              <a:buFont typeface="Arial"/>
              <a:buNone/>
            </a:pPr>
            <a:r>
              <a:rPr b="1" lang="en-US" sz="1800">
                <a:solidFill>
                  <a:schemeClr val="dk1"/>
                </a:solidFill>
                <a:latin typeface="Times New Roman"/>
                <a:ea typeface="Times New Roman"/>
                <a:cs typeface="Times New Roman"/>
                <a:sym typeface="Times New Roman"/>
              </a:rPr>
              <a:t>8</a:t>
            </a:r>
            <a:r>
              <a:rPr b="1" lang="en-US" sz="1800">
                <a:solidFill>
                  <a:schemeClr val="dk1"/>
                </a:solidFill>
                <a:latin typeface="Times New Roman"/>
                <a:ea typeface="Times New Roman"/>
                <a:cs typeface="Times New Roman"/>
                <a:sym typeface="Times New Roman"/>
              </a:rPr>
              <a:t>. AdaBoost</a:t>
            </a:r>
            <a:endParaRPr b="1"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AdaBoost was selected because it adaptively focuses on errors in previous iterations.</a:t>
            </a:r>
            <a:r>
              <a:rPr lang="en-US" sz="18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This helps test whether boosting weak learners improves predictions for volatile periods in the load data.</a:t>
            </a:r>
            <a:endParaRPr sz="1800">
              <a:latin typeface="Times New Roman"/>
              <a:ea typeface="Times New Roman"/>
              <a:cs typeface="Times New Roman"/>
              <a:sym typeface="Times New Roman"/>
            </a:endParaRPr>
          </a:p>
        </p:txBody>
      </p:sp>
      <p:sp>
        <p:nvSpPr>
          <p:cNvPr id="215" name="Google Shape;215;p24"/>
          <p:cNvSpPr txBox="1"/>
          <p:nvPr/>
        </p:nvSpPr>
        <p:spPr>
          <a:xfrm>
            <a:off x="240175" y="3212450"/>
            <a:ext cx="55104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1" lang="en-US" sz="1800">
                <a:solidFill>
                  <a:schemeClr val="dk1"/>
                </a:solidFill>
                <a:latin typeface="Times New Roman"/>
                <a:ea typeface="Times New Roman"/>
                <a:cs typeface="Times New Roman"/>
                <a:sym typeface="Times New Roman"/>
              </a:rPr>
              <a:t>7</a:t>
            </a:r>
            <a:r>
              <a:rPr b="1" lang="en-US" sz="1800">
                <a:solidFill>
                  <a:schemeClr val="dk1"/>
                </a:solidFill>
                <a:latin typeface="Times New Roman"/>
                <a:ea typeface="Times New Roman"/>
                <a:cs typeface="Times New Roman"/>
                <a:sym typeface="Times New Roman"/>
              </a:rPr>
              <a:t>. ANN (Deep Learning) – Capturing Complex Temporal Nonlinearity</a:t>
            </a:r>
            <a:endParaRPr>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Artificial Neural Networks were included because energy consumption data often shows nonlinear temporal behavior.</a:t>
            </a:r>
            <a:r>
              <a:rPr lang="en-US" sz="18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ANNs can model such patterns and interactions that may not be captured fully by tree-based models.</a:t>
            </a:r>
            <a:endParaRPr sz="1800">
              <a:latin typeface="Times New Roman"/>
              <a:ea typeface="Times New Roman"/>
              <a:cs typeface="Times New Roman"/>
              <a:sym typeface="Times New Roman"/>
            </a:endParaRPr>
          </a:p>
        </p:txBody>
      </p:sp>
      <p:sp>
        <p:nvSpPr>
          <p:cNvPr id="216" name="Google Shape;216;p24"/>
          <p:cNvSpPr txBox="1"/>
          <p:nvPr/>
        </p:nvSpPr>
        <p:spPr>
          <a:xfrm>
            <a:off x="240175" y="5314163"/>
            <a:ext cx="11806800" cy="1477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We intentionally evaluated algorithms that are well-suited for detecting nonlinear patterns, seasonal fluctuations, and temporal dependencies inherent in energy-consumption data. By comparing linear models, regularized models, boosting algorithms, ensemble tree methods, and deep learning architectures, we ensured a fair and comprehensive performance assessment. This structured approach allowed us to understand the strengths and limitations of each model and ultimately select the most suitable one.</a:t>
            </a:r>
            <a:endParaRPr i="0" sz="1800" u="none" cap="none" strike="noStrike">
              <a:solidFill>
                <a:schemeClr val="dk1"/>
              </a:solidFill>
              <a:latin typeface="Times New Roman"/>
              <a:ea typeface="Times New Roman"/>
              <a:cs typeface="Times New Roman"/>
              <a:sym typeface="Times New Roman"/>
            </a:endParaRPr>
          </a:p>
        </p:txBody>
      </p:sp>
      <p:sp>
        <p:nvSpPr>
          <p:cNvPr id="217" name="Google Shape;217;p24"/>
          <p:cNvSpPr/>
          <p:nvPr/>
        </p:nvSpPr>
        <p:spPr>
          <a:xfrm>
            <a:off x="0" y="0"/>
            <a:ext cx="12192000" cy="10878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 name="Google Shape;218;p24"/>
          <p:cNvSpPr txBox="1"/>
          <p:nvPr/>
        </p:nvSpPr>
        <p:spPr>
          <a:xfrm>
            <a:off x="6101950" y="1178375"/>
            <a:ext cx="59463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6</a:t>
            </a:r>
            <a:r>
              <a:rPr b="1" lang="en-US" sz="1800">
                <a:solidFill>
                  <a:schemeClr val="dk1"/>
                </a:solidFill>
                <a:latin typeface="Times New Roman"/>
                <a:ea typeface="Times New Roman"/>
                <a:cs typeface="Times New Roman"/>
                <a:sym typeface="Times New Roman"/>
              </a:rPr>
              <a:t>. Ridge Regression – Regularization for High-Dimensional Data</a:t>
            </a:r>
            <a:endParaRPr>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Ridge Regression was included to test whether applying L2 regularization would reduce overfitting in a dataset containing many correlated features (time lags, rolling windows, cyclical encodings). It helps evaluate stabilization of coefficients in complex temporal datasets.</a:t>
            </a:r>
            <a:endParaRPr sz="1800">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19" name="Google Shape;219;p24"/>
          <p:cNvSpPr txBox="1"/>
          <p:nvPr/>
        </p:nvSpPr>
        <p:spPr>
          <a:xfrm>
            <a:off x="360250" y="160098"/>
            <a:ext cx="111810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400">
                <a:solidFill>
                  <a:srgbClr val="F2F2F2"/>
                </a:solidFill>
                <a:latin typeface="Times New Roman"/>
                <a:ea typeface="Times New Roman"/>
                <a:cs typeface="Times New Roman"/>
                <a:sym typeface="Times New Roman"/>
              </a:rPr>
              <a:t>Modeling Techniques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5"/>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 name="Google Shape;225;p25"/>
          <p:cNvSpPr txBox="1"/>
          <p:nvPr>
            <p:ph type="title"/>
          </p:nvPr>
        </p:nvSpPr>
        <p:spPr>
          <a:xfrm>
            <a:off x="0"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Times New Roman"/>
              <a:buNone/>
            </a:pPr>
            <a:r>
              <a:rPr b="1" lang="en-US">
                <a:solidFill>
                  <a:srgbClr val="F2F2F2"/>
                </a:solidFill>
                <a:latin typeface="Times New Roman"/>
                <a:ea typeface="Times New Roman"/>
                <a:cs typeface="Times New Roman"/>
                <a:sym typeface="Times New Roman"/>
              </a:rPr>
              <a:t>Model Performance</a:t>
            </a:r>
            <a:endParaRPr/>
          </a:p>
        </p:txBody>
      </p:sp>
      <p:sp>
        <p:nvSpPr>
          <p:cNvPr id="226" name="Google Shape;226;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graphicFrame>
        <p:nvGraphicFramePr>
          <p:cNvPr id="227" name="Google Shape;227;p25"/>
          <p:cNvGraphicFramePr/>
          <p:nvPr/>
        </p:nvGraphicFramePr>
        <p:xfrm>
          <a:off x="5558" y="1099038"/>
          <a:ext cx="3000000" cy="3000000"/>
        </p:xfrm>
        <a:graphic>
          <a:graphicData uri="http://schemas.openxmlformats.org/drawingml/2006/table">
            <a:tbl>
              <a:tblPr bandRow="1" firstRow="1">
                <a:noFill/>
                <a:tableStyleId>{ECF3D985-9518-4C8F-802C-F8963C1D17C1}</a:tableStyleId>
              </a:tblPr>
              <a:tblGrid>
                <a:gridCol w="1393600"/>
                <a:gridCol w="1393600"/>
                <a:gridCol w="1393600"/>
                <a:gridCol w="1393600"/>
                <a:gridCol w="1393600"/>
              </a:tblGrid>
              <a:tr h="627675">
                <a:tc>
                  <a:txBody>
                    <a:bodyPr/>
                    <a:lstStyle/>
                    <a:p>
                      <a:pPr indent="0" lvl="0" marL="0" marR="0" rtl="0" algn="r">
                        <a:spcBef>
                          <a:spcPts val="0"/>
                        </a:spcBef>
                        <a:spcAft>
                          <a:spcPts val="0"/>
                        </a:spcAft>
                        <a:buClr>
                          <a:schemeClr val="dk1"/>
                        </a:buClr>
                        <a:buSzPts val="1800"/>
                        <a:buFont typeface="Arial"/>
                        <a:buNone/>
                      </a:pPr>
                      <a:r>
                        <a:t/>
                      </a:r>
                      <a:endParaRPr b="1" sz="1800"/>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b="1" lang="en-US" sz="1800"/>
                        <a:t>Model</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b="1" lang="en-US" sz="1800"/>
                        <a:t>MAE (kW)</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b="1" lang="en-US" sz="1800"/>
                        <a:t>RMSE (kW)</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b="1" lang="en-US" sz="1800"/>
                        <a:t>R²</a:t>
                      </a:r>
                      <a:endParaRPr/>
                    </a:p>
                  </a:txBody>
                  <a:tcPr marT="45725" marB="45725" marR="91450" marL="91450" anchor="ctr"/>
                </a:tc>
              </a:tr>
              <a:tr h="375575">
                <a:tc>
                  <a:txBody>
                    <a:bodyPr/>
                    <a:lstStyle/>
                    <a:p>
                      <a:pPr indent="0" lvl="0" marL="0" marR="0" rtl="0" algn="r">
                        <a:spcBef>
                          <a:spcPts val="0"/>
                        </a:spcBef>
                        <a:spcAft>
                          <a:spcPts val="0"/>
                        </a:spcAft>
                        <a:buClr>
                          <a:schemeClr val="dk1"/>
                        </a:buClr>
                        <a:buSzPts val="1800"/>
                        <a:buFont typeface="Arial"/>
                        <a:buNone/>
                      </a:pPr>
                      <a:r>
                        <a:rPr b="1" lang="en-US" sz="1800"/>
                        <a:t>1</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LightGBM</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66.03</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94.33</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0.9691</a:t>
                      </a:r>
                      <a:endParaRPr/>
                    </a:p>
                  </a:txBody>
                  <a:tcPr marT="45725" marB="45725" marR="91450" marL="91450" anchor="ctr"/>
                </a:tc>
              </a:tr>
              <a:tr h="375575">
                <a:tc>
                  <a:txBody>
                    <a:bodyPr/>
                    <a:lstStyle/>
                    <a:p>
                      <a:pPr indent="0" lvl="0" marL="0" marR="0" rtl="0" algn="r">
                        <a:spcBef>
                          <a:spcPts val="0"/>
                        </a:spcBef>
                        <a:spcAft>
                          <a:spcPts val="0"/>
                        </a:spcAft>
                        <a:buClr>
                          <a:schemeClr val="dk1"/>
                        </a:buClr>
                        <a:buSzPts val="1800"/>
                        <a:buFont typeface="Arial"/>
                        <a:buNone/>
                      </a:pPr>
                      <a:r>
                        <a:rPr b="1" lang="en-US" sz="1800"/>
                        <a:t>2</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XGBoost</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66.42</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95.45</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0.9683</a:t>
                      </a:r>
                      <a:endParaRPr/>
                    </a:p>
                  </a:txBody>
                  <a:tcPr marT="45725" marB="45725" marR="91450" marL="91450" anchor="ctr"/>
                </a:tc>
              </a:tr>
              <a:tr h="657250">
                <a:tc>
                  <a:txBody>
                    <a:bodyPr/>
                    <a:lstStyle/>
                    <a:p>
                      <a:pPr indent="0" lvl="0" marL="0" marR="0" rtl="0" algn="r">
                        <a:spcBef>
                          <a:spcPts val="0"/>
                        </a:spcBef>
                        <a:spcAft>
                          <a:spcPts val="0"/>
                        </a:spcAft>
                        <a:buClr>
                          <a:schemeClr val="dk1"/>
                        </a:buClr>
                        <a:buSzPts val="1800"/>
                        <a:buFont typeface="Arial"/>
                        <a:buNone/>
                      </a:pPr>
                      <a:r>
                        <a:rPr b="1" lang="en-US" sz="1800"/>
                        <a:t>3</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HistGradientBoosting</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69.58</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100.91</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0.9646</a:t>
                      </a:r>
                      <a:endParaRPr/>
                    </a:p>
                  </a:txBody>
                  <a:tcPr marT="45725" marB="45725" marR="91450" marL="91450" anchor="ctr"/>
                </a:tc>
              </a:tr>
              <a:tr h="657250">
                <a:tc>
                  <a:txBody>
                    <a:bodyPr/>
                    <a:lstStyle/>
                    <a:p>
                      <a:pPr indent="0" lvl="0" marL="0" marR="0" rtl="0" algn="r">
                        <a:spcBef>
                          <a:spcPts val="0"/>
                        </a:spcBef>
                        <a:spcAft>
                          <a:spcPts val="0"/>
                        </a:spcAft>
                        <a:buClr>
                          <a:schemeClr val="dk1"/>
                        </a:buClr>
                        <a:buSzPts val="1800"/>
                        <a:buFont typeface="Arial"/>
                        <a:buNone/>
                      </a:pPr>
                      <a:r>
                        <a:rPr b="1" lang="en-US" sz="1800"/>
                        <a:t>4</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Random Forest</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72.43</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106.68</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0.9604</a:t>
                      </a:r>
                      <a:endParaRPr/>
                    </a:p>
                  </a:txBody>
                  <a:tcPr marT="45725" marB="45725" marR="91450" marL="91450" anchor="ctr"/>
                </a:tc>
              </a:tr>
              <a:tr h="896675">
                <a:tc>
                  <a:txBody>
                    <a:bodyPr/>
                    <a:lstStyle/>
                    <a:p>
                      <a:pPr indent="0" lvl="0" marL="0" marR="0" rtl="0" algn="r">
                        <a:spcBef>
                          <a:spcPts val="0"/>
                        </a:spcBef>
                        <a:spcAft>
                          <a:spcPts val="0"/>
                        </a:spcAft>
                        <a:buClr>
                          <a:schemeClr val="dk1"/>
                        </a:buClr>
                        <a:buSzPts val="1800"/>
                        <a:buFont typeface="Arial"/>
                        <a:buNone/>
                      </a:pPr>
                      <a:r>
                        <a:rPr b="1" lang="en-US" sz="1800"/>
                        <a:t>5</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ANN (Deep Learning)</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84.23</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121.12</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0.9490</a:t>
                      </a:r>
                      <a:endParaRPr/>
                    </a:p>
                  </a:txBody>
                  <a:tcPr marT="45725" marB="45725" marR="91450" marL="91450" anchor="ctr"/>
                </a:tc>
              </a:tr>
              <a:tr h="896675">
                <a:tc>
                  <a:txBody>
                    <a:bodyPr/>
                    <a:lstStyle/>
                    <a:p>
                      <a:pPr indent="0" lvl="0" marL="0" marR="0" rtl="0" algn="r">
                        <a:spcBef>
                          <a:spcPts val="0"/>
                        </a:spcBef>
                        <a:spcAft>
                          <a:spcPts val="0"/>
                        </a:spcAft>
                        <a:buClr>
                          <a:schemeClr val="dk1"/>
                        </a:buClr>
                        <a:buSzPts val="1800"/>
                        <a:buFont typeface="Arial"/>
                        <a:buNone/>
                      </a:pPr>
                      <a:r>
                        <a:rPr b="1" lang="en-US" sz="1800"/>
                        <a:t>6</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Ridge Regression</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144.25</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187.07</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0.8783</a:t>
                      </a:r>
                      <a:endParaRPr/>
                    </a:p>
                  </a:txBody>
                  <a:tcPr marT="45725" marB="45725" marR="91450" marL="91450" anchor="ctr"/>
                </a:tc>
              </a:tr>
              <a:tr h="896675">
                <a:tc>
                  <a:txBody>
                    <a:bodyPr/>
                    <a:lstStyle/>
                    <a:p>
                      <a:pPr indent="0" lvl="0" marL="0" marR="0" rtl="0" algn="r">
                        <a:spcBef>
                          <a:spcPts val="0"/>
                        </a:spcBef>
                        <a:spcAft>
                          <a:spcPts val="0"/>
                        </a:spcAft>
                        <a:buClr>
                          <a:schemeClr val="dk1"/>
                        </a:buClr>
                        <a:buSzPts val="1800"/>
                        <a:buFont typeface="Arial"/>
                        <a:buNone/>
                      </a:pPr>
                      <a:r>
                        <a:rPr b="1" lang="en-US" sz="1800"/>
                        <a:t>7</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Linear Regression</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144.26</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187.07</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0.8783</a:t>
                      </a:r>
                      <a:endParaRPr/>
                    </a:p>
                  </a:txBody>
                  <a:tcPr marT="45725" marB="45725" marR="91450" marL="91450" anchor="ctr"/>
                </a:tc>
              </a:tr>
              <a:tr h="375575">
                <a:tc>
                  <a:txBody>
                    <a:bodyPr/>
                    <a:lstStyle/>
                    <a:p>
                      <a:pPr indent="0" lvl="0" marL="0" marR="0" rtl="0" algn="r">
                        <a:spcBef>
                          <a:spcPts val="0"/>
                        </a:spcBef>
                        <a:spcAft>
                          <a:spcPts val="0"/>
                        </a:spcAft>
                        <a:buClr>
                          <a:schemeClr val="dk1"/>
                        </a:buClr>
                        <a:buSzPts val="1800"/>
                        <a:buFont typeface="Arial"/>
                        <a:buNone/>
                      </a:pPr>
                      <a:r>
                        <a:rPr b="1" lang="en-US" sz="1800"/>
                        <a:t>8</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AdaBoost</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160.20</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203.70</a:t>
                      </a:r>
                      <a:endParaRPr/>
                    </a:p>
                  </a:txBody>
                  <a:tcPr marT="45725" marB="45725" marR="91450" marL="91450" anchor="ctr"/>
                </a:tc>
                <a:tc>
                  <a:txBody>
                    <a:bodyPr/>
                    <a:lstStyle/>
                    <a:p>
                      <a:pPr indent="0" lvl="0" marL="0" marR="0" rtl="0" algn="r">
                        <a:spcBef>
                          <a:spcPts val="0"/>
                        </a:spcBef>
                        <a:spcAft>
                          <a:spcPts val="0"/>
                        </a:spcAft>
                        <a:buClr>
                          <a:schemeClr val="dk1"/>
                        </a:buClr>
                        <a:buSzPts val="1800"/>
                        <a:buFont typeface="Arial"/>
                        <a:buNone/>
                      </a:pPr>
                      <a:r>
                        <a:rPr lang="en-US" sz="1800"/>
                        <a:t>0.8557</a:t>
                      </a:r>
                      <a:endParaRPr/>
                    </a:p>
                  </a:txBody>
                  <a:tcPr marT="45725" marB="45725" marR="91450" marL="91450" anchor="ctr"/>
                </a:tc>
              </a:tr>
            </a:tbl>
          </a:graphicData>
        </a:graphic>
      </p:graphicFrame>
      <p:sp>
        <p:nvSpPr>
          <p:cNvPr id="228" name="Google Shape;228;p25"/>
          <p:cNvSpPr txBox="1"/>
          <p:nvPr/>
        </p:nvSpPr>
        <p:spPr>
          <a:xfrm>
            <a:off x="7104994" y="1721254"/>
            <a:ext cx="4766400" cy="39711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LightGBM delivered the best overall performance with the lowest MAE and RMSE and the highest R² score, indicating strong predictive accuracy and stability.</a:t>
            </a:r>
            <a:endParaRPr sz="1800">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 XGBoost and HistGradientBoosting also performed competitively, effectively capturing nonlinear patterns in the data.</a:t>
            </a:r>
            <a:endParaRPr sz="1800">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 Traditional linear models and AdaBoost showed significantly higher errors, confirming that tree-based ensemble methods are better suited for the complex, fluctuating nature of energy-consumption forecasting.</a:t>
            </a:r>
            <a:endParaRPr sz="1800">
              <a:latin typeface="Times New Roman"/>
              <a:ea typeface="Times New Roman"/>
              <a:cs typeface="Times New Roman"/>
              <a:sym typeface="Times New Roman"/>
            </a:endParaRPr>
          </a:p>
        </p:txBody>
      </p:sp>
      <p:pic>
        <p:nvPicPr>
          <p:cNvPr descr="Performance - Free business icons" id="229" name="Google Shape;229;p25"/>
          <p:cNvPicPr preferRelativeResize="0"/>
          <p:nvPr/>
        </p:nvPicPr>
        <p:blipFill rotWithShape="1">
          <a:blip r:embed="rId3">
            <a:alphaModFix/>
          </a:blip>
          <a:srcRect b="0" l="0" r="0" t="0"/>
          <a:stretch/>
        </p:blipFill>
        <p:spPr>
          <a:xfrm>
            <a:off x="10326420" y="-87339"/>
            <a:ext cx="1231930" cy="123193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6"/>
          <p:cNvPicPr preferRelativeResize="0"/>
          <p:nvPr/>
        </p:nvPicPr>
        <p:blipFill rotWithShape="1">
          <a:blip r:embed="rId3">
            <a:alphaModFix/>
          </a:blip>
          <a:srcRect b="0" l="0" r="0" t="0"/>
          <a:stretch/>
        </p:blipFill>
        <p:spPr>
          <a:xfrm>
            <a:off x="1652004" y="1149106"/>
            <a:ext cx="8872725" cy="5621599"/>
          </a:xfrm>
          <a:prstGeom prst="rect">
            <a:avLst/>
          </a:prstGeom>
          <a:noFill/>
          <a:ln>
            <a:noFill/>
          </a:ln>
        </p:spPr>
      </p:pic>
      <p:sp>
        <p:nvSpPr>
          <p:cNvPr id="235" name="Google Shape;235;p26"/>
          <p:cNvSpPr/>
          <p:nvPr/>
        </p:nvSpPr>
        <p:spPr>
          <a:xfrm>
            <a:off x="0" y="0"/>
            <a:ext cx="12192000" cy="10878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 name="Google Shape;236;p26"/>
          <p:cNvSpPr txBox="1"/>
          <p:nvPr>
            <p:ph type="title"/>
          </p:nvPr>
        </p:nvSpPr>
        <p:spPr>
          <a:xfrm>
            <a:off x="0" y="1825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Times New Roman"/>
              <a:buNone/>
            </a:pPr>
            <a:r>
              <a:rPr b="1" lang="en-US">
                <a:solidFill>
                  <a:srgbClr val="F2F2F2"/>
                </a:solidFill>
                <a:latin typeface="Times New Roman"/>
                <a:ea typeface="Times New Roman"/>
                <a:cs typeface="Times New Roman"/>
                <a:sym typeface="Times New Roman"/>
              </a:rPr>
              <a:t>Model Performance</a:t>
            </a:r>
            <a:endParaRPr/>
          </a:p>
        </p:txBody>
      </p:sp>
      <p:pic>
        <p:nvPicPr>
          <p:cNvPr descr="Performance - Free business icons" id="237" name="Google Shape;237;p26"/>
          <p:cNvPicPr preferRelativeResize="0"/>
          <p:nvPr/>
        </p:nvPicPr>
        <p:blipFill rotWithShape="1">
          <a:blip r:embed="rId4">
            <a:alphaModFix/>
          </a:blip>
          <a:srcRect b="0" l="0" r="0" t="0"/>
          <a:stretch/>
        </p:blipFill>
        <p:spPr>
          <a:xfrm>
            <a:off x="10326420" y="-87339"/>
            <a:ext cx="1231930" cy="123193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3" name="Google Shape;243;p27"/>
          <p:cNvSpPr txBox="1"/>
          <p:nvPr>
            <p:ph type="title"/>
          </p:nvPr>
        </p:nvSpPr>
        <p:spPr>
          <a:xfrm>
            <a:off x="0"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Times New Roman"/>
              <a:buNone/>
            </a:pPr>
            <a:r>
              <a:rPr b="1" lang="en-US">
                <a:solidFill>
                  <a:srgbClr val="F2F2F2"/>
                </a:solidFill>
                <a:latin typeface="Times New Roman"/>
                <a:ea typeface="Times New Roman"/>
                <a:cs typeface="Times New Roman"/>
                <a:sym typeface="Times New Roman"/>
              </a:rPr>
              <a:t>Evaluation Techniques</a:t>
            </a:r>
            <a:endParaRPr/>
          </a:p>
        </p:txBody>
      </p:sp>
      <p:sp>
        <p:nvSpPr>
          <p:cNvPr id="244" name="Google Shape;244;p27"/>
          <p:cNvSpPr txBox="1"/>
          <p:nvPr>
            <p:ph idx="1" type="body"/>
          </p:nvPr>
        </p:nvSpPr>
        <p:spPr>
          <a:xfrm>
            <a:off x="738352" y="1725776"/>
            <a:ext cx="5168462"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Mean Absolute Error (MAE)</a:t>
            </a:r>
            <a:endParaRPr>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Measures Average of Error</a:t>
            </a:r>
            <a:endParaRPr>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How much model is off</a:t>
            </a:r>
            <a:endParaRPr>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Lower the MAE, better the model</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Root Mean Squared Error (RMSE)</a:t>
            </a:r>
            <a:endParaRPr>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Measures Prediction error</a:t>
            </a:r>
            <a:endParaRPr>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Penalize values heavily</a:t>
            </a:r>
            <a:endParaRPr>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More sensitive</a:t>
            </a:r>
            <a:endParaRPr>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Lower the RMSE, better the model</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R^2 </a:t>
            </a:r>
            <a:endParaRPr>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Variation in target variable</a:t>
            </a:r>
            <a:endParaRPr>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Value range from 0 to 1</a:t>
            </a:r>
            <a:endParaRPr>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Higher the R^2 value, better the model</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245" name="Google Shape;245;p27"/>
          <p:cNvSpPr txBox="1"/>
          <p:nvPr/>
        </p:nvSpPr>
        <p:spPr>
          <a:xfrm>
            <a:off x="7018373" y="2192219"/>
            <a:ext cx="4435800" cy="3478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In our forecasting problem, lower MAE is more important because it directly tells us how far our predictions are from the actual energy load in real units (kW). Unlike classification accuracy, which is not applicable here, MAE provides a clear and interpretable measure of prediction error. A lower MAE therefore indicates a more reliable and operationally useful model for energy-demand planning.</a:t>
            </a:r>
            <a:endParaRPr sz="2000">
              <a:latin typeface="Times New Roman"/>
              <a:ea typeface="Times New Roman"/>
              <a:cs typeface="Times New Roman"/>
              <a:sym typeface="Times New Roman"/>
            </a:endParaRPr>
          </a:p>
        </p:txBody>
      </p:sp>
      <p:cxnSp>
        <p:nvCxnSpPr>
          <p:cNvPr id="246" name="Google Shape;246;p27"/>
          <p:cNvCxnSpPr/>
          <p:nvPr/>
        </p:nvCxnSpPr>
        <p:spPr>
          <a:xfrm>
            <a:off x="6235900" y="1443625"/>
            <a:ext cx="0" cy="4896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 name="Google Shape;252;p28"/>
          <p:cNvSpPr txBox="1"/>
          <p:nvPr>
            <p:ph type="title"/>
          </p:nvPr>
        </p:nvSpPr>
        <p:spPr>
          <a:xfrm>
            <a:off x="0" y="0"/>
            <a:ext cx="1187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Times New Roman"/>
              <a:buNone/>
            </a:pPr>
            <a:r>
              <a:rPr b="1" lang="en-US">
                <a:solidFill>
                  <a:srgbClr val="F2F2F2"/>
                </a:solidFill>
                <a:latin typeface="Times New Roman"/>
                <a:ea typeface="Times New Roman"/>
                <a:cs typeface="Times New Roman"/>
                <a:sym typeface="Times New Roman"/>
              </a:rPr>
              <a:t>Analysis of the Models &amp; Final Model Selection</a:t>
            </a:r>
            <a:endParaRPr/>
          </a:p>
        </p:txBody>
      </p:sp>
      <p:sp>
        <p:nvSpPr>
          <p:cNvPr id="253" name="Google Shape;253;p28"/>
          <p:cNvSpPr txBox="1"/>
          <p:nvPr>
            <p:ph idx="1" type="body"/>
          </p:nvPr>
        </p:nvSpPr>
        <p:spPr>
          <a:xfrm>
            <a:off x="168475" y="1364250"/>
            <a:ext cx="11708100" cy="2981400"/>
          </a:xfrm>
          <a:prstGeom prst="rect">
            <a:avLst/>
          </a:prstGeom>
          <a:noFill/>
          <a:ln>
            <a:noFill/>
          </a:ln>
        </p:spPr>
        <p:txBody>
          <a:bodyPr anchorCtr="0" anchor="t" bIns="45700" lIns="91425" spcFirstLastPara="1" rIns="91425" wrap="square" tIns="45700">
            <a:noAutofit/>
          </a:bodyPr>
          <a:lstStyle/>
          <a:p>
            <a:pPr indent="-231775" lvl="0" marL="228600" rtl="0" algn="just">
              <a:lnSpc>
                <a:spcPct val="80000"/>
              </a:lnSpc>
              <a:spcBef>
                <a:spcPts val="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LightGBM and XGBoost are the top-performing models, achieving the lowest RMSE values (95–97 kW). This indicates that both models are highly effective at capturing nonlinear patterns and fluctuations in the energy load data.</a:t>
            </a:r>
            <a:endParaRPr sz="1800">
              <a:latin typeface="Times New Roman"/>
              <a:ea typeface="Times New Roman"/>
              <a:cs typeface="Times New Roman"/>
              <a:sym typeface="Times New Roman"/>
            </a:endParaRPr>
          </a:p>
          <a:p>
            <a:pPr indent="-231775" lvl="0" marL="228600" rtl="0" algn="just">
              <a:lnSpc>
                <a:spcPct val="80000"/>
              </a:lnSpc>
              <a:spcBef>
                <a:spcPts val="10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HistGradientBoosting also performs strongly, with RMSE just above 100 kW. It demonstrates that tree-based boosting models consistently outperform simpler algorithms.</a:t>
            </a:r>
            <a:endParaRPr sz="1800">
              <a:latin typeface="Times New Roman"/>
              <a:ea typeface="Times New Roman"/>
              <a:cs typeface="Times New Roman"/>
              <a:sym typeface="Times New Roman"/>
            </a:endParaRPr>
          </a:p>
          <a:p>
            <a:pPr indent="-231775" lvl="0" marL="228600" rtl="0" algn="just">
              <a:lnSpc>
                <a:spcPct val="80000"/>
              </a:lnSpc>
              <a:spcBef>
                <a:spcPts val="10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Random Forest and ANN fall in the mid-range (110–115 kW). While they show decent predictive ability, they are slightly less accurate compared to boosting models.</a:t>
            </a:r>
            <a:endParaRPr sz="1800">
              <a:latin typeface="Times New Roman"/>
              <a:ea typeface="Times New Roman"/>
              <a:cs typeface="Times New Roman"/>
              <a:sym typeface="Times New Roman"/>
            </a:endParaRPr>
          </a:p>
          <a:p>
            <a:pPr indent="-231775" lvl="0" marL="228600" rtl="0" algn="just">
              <a:lnSpc>
                <a:spcPct val="80000"/>
              </a:lnSpc>
              <a:spcBef>
                <a:spcPts val="10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Ridge Regression and Linear Regression show significantly higher RMSE values (185–190 kW). This confirms that linear models are not sufficient for this dataset, which contains clear nonlinear and seasonal patterns.</a:t>
            </a:r>
            <a:endParaRPr sz="1800">
              <a:latin typeface="Times New Roman"/>
              <a:ea typeface="Times New Roman"/>
              <a:cs typeface="Times New Roman"/>
              <a:sym typeface="Times New Roman"/>
            </a:endParaRPr>
          </a:p>
          <a:p>
            <a:pPr indent="-231775" lvl="0" marL="228600" rtl="0" algn="just">
              <a:lnSpc>
                <a:spcPct val="80000"/>
              </a:lnSpc>
              <a:spcBef>
                <a:spcPts val="10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AdaBoost has the highest RMSE (205 kW), indicating relatively poor performance on this dataset. This suggests that AdaBoost struggles with the complexity and variability of hourly load data.</a:t>
            </a:r>
            <a:endParaRPr sz="1800">
              <a:latin typeface="Times New Roman"/>
              <a:ea typeface="Times New Roman"/>
              <a:cs typeface="Times New Roman"/>
              <a:sym typeface="Times New Roman"/>
            </a:endParaRPr>
          </a:p>
        </p:txBody>
      </p:sp>
      <p:sp>
        <p:nvSpPr>
          <p:cNvPr id="254" name="Google Shape;254;p28"/>
          <p:cNvSpPr txBox="1"/>
          <p:nvPr>
            <p:ph idx="1" type="body"/>
          </p:nvPr>
        </p:nvSpPr>
        <p:spPr>
          <a:xfrm>
            <a:off x="3988600" y="4688094"/>
            <a:ext cx="7768800" cy="1958400"/>
          </a:xfrm>
          <a:prstGeom prst="rect">
            <a:avLst/>
          </a:prstGeom>
          <a:noFill/>
          <a:ln>
            <a:noFill/>
          </a:ln>
        </p:spPr>
        <p:txBody>
          <a:bodyPr anchorCtr="0" anchor="t" bIns="45700" lIns="91425" spcFirstLastPara="1" rIns="91425" wrap="square" tIns="45700">
            <a:noAutofit/>
          </a:bodyPr>
          <a:lstStyle/>
          <a:p>
            <a:pPr indent="-167005" lvl="0" marL="228600" rtl="0" algn="l">
              <a:lnSpc>
                <a:spcPct val="70000"/>
              </a:lnSpc>
              <a:spcBef>
                <a:spcPts val="0"/>
              </a:spcBef>
              <a:spcAft>
                <a:spcPts val="0"/>
              </a:spcAft>
              <a:buClr>
                <a:schemeClr val="dk1"/>
              </a:buClr>
              <a:buSzPts val="1830"/>
              <a:buFont typeface="Times New Roman"/>
              <a:buChar char="•"/>
            </a:pPr>
            <a:r>
              <a:rPr lang="en-US" sz="1829">
                <a:latin typeface="Times New Roman"/>
                <a:ea typeface="Times New Roman"/>
                <a:cs typeface="Times New Roman"/>
                <a:sym typeface="Times New Roman"/>
              </a:rPr>
              <a:t>LightGBM</a:t>
            </a:r>
            <a:endParaRPr sz="1829">
              <a:latin typeface="Times New Roman"/>
              <a:ea typeface="Times New Roman"/>
              <a:cs typeface="Times New Roman"/>
              <a:sym typeface="Times New Roman"/>
            </a:endParaRPr>
          </a:p>
          <a:p>
            <a:pPr indent="-167005" lvl="0" marL="228600" rtl="0" algn="l">
              <a:lnSpc>
                <a:spcPct val="70000"/>
              </a:lnSpc>
              <a:spcBef>
                <a:spcPts val="1000"/>
              </a:spcBef>
              <a:spcAft>
                <a:spcPts val="0"/>
              </a:spcAft>
              <a:buClr>
                <a:schemeClr val="dk1"/>
              </a:buClr>
              <a:buSzPts val="1830"/>
              <a:buFont typeface="Times New Roman"/>
              <a:buChar char="•"/>
            </a:pPr>
            <a:r>
              <a:rPr lang="en-US" sz="1829">
                <a:latin typeface="Times New Roman"/>
                <a:ea typeface="Times New Roman"/>
                <a:cs typeface="Times New Roman"/>
                <a:sym typeface="Times New Roman"/>
              </a:rPr>
              <a:t>MAE: 66.03</a:t>
            </a:r>
            <a:endParaRPr sz="1829">
              <a:latin typeface="Times New Roman"/>
              <a:ea typeface="Times New Roman"/>
              <a:cs typeface="Times New Roman"/>
              <a:sym typeface="Times New Roman"/>
            </a:endParaRPr>
          </a:p>
          <a:p>
            <a:pPr indent="-167005" lvl="0" marL="228600" rtl="0" algn="l">
              <a:lnSpc>
                <a:spcPct val="70000"/>
              </a:lnSpc>
              <a:spcBef>
                <a:spcPts val="1000"/>
              </a:spcBef>
              <a:spcAft>
                <a:spcPts val="0"/>
              </a:spcAft>
              <a:buClr>
                <a:schemeClr val="dk1"/>
              </a:buClr>
              <a:buSzPts val="1830"/>
              <a:buFont typeface="Times New Roman"/>
              <a:buChar char="•"/>
            </a:pPr>
            <a:r>
              <a:rPr lang="en-US" sz="1829">
                <a:latin typeface="Times New Roman"/>
                <a:ea typeface="Times New Roman"/>
                <a:cs typeface="Times New Roman"/>
                <a:sym typeface="Times New Roman"/>
              </a:rPr>
              <a:t>RMSE: 94.33</a:t>
            </a:r>
            <a:endParaRPr sz="1829">
              <a:latin typeface="Times New Roman"/>
              <a:ea typeface="Times New Roman"/>
              <a:cs typeface="Times New Roman"/>
              <a:sym typeface="Times New Roman"/>
            </a:endParaRPr>
          </a:p>
          <a:p>
            <a:pPr indent="-167005" lvl="0" marL="228600" rtl="0" algn="l">
              <a:lnSpc>
                <a:spcPct val="70000"/>
              </a:lnSpc>
              <a:spcBef>
                <a:spcPts val="1000"/>
              </a:spcBef>
              <a:spcAft>
                <a:spcPts val="0"/>
              </a:spcAft>
              <a:buClr>
                <a:schemeClr val="dk1"/>
              </a:buClr>
              <a:buSzPts val="1830"/>
              <a:buFont typeface="Times New Roman"/>
              <a:buChar char="•"/>
            </a:pPr>
            <a:r>
              <a:rPr lang="en-US" sz="1829">
                <a:latin typeface="Times New Roman"/>
                <a:ea typeface="Times New Roman"/>
                <a:cs typeface="Times New Roman"/>
                <a:sym typeface="Times New Roman"/>
              </a:rPr>
              <a:t>R^2: 0.9691</a:t>
            </a:r>
            <a:endParaRPr sz="1829">
              <a:latin typeface="Times New Roman"/>
              <a:ea typeface="Times New Roman"/>
              <a:cs typeface="Times New Roman"/>
              <a:sym typeface="Times New Roman"/>
            </a:endParaRPr>
          </a:p>
          <a:p>
            <a:pPr indent="-167005" lvl="0" marL="228600" rtl="0" algn="l">
              <a:lnSpc>
                <a:spcPct val="70000"/>
              </a:lnSpc>
              <a:spcBef>
                <a:spcPts val="1000"/>
              </a:spcBef>
              <a:spcAft>
                <a:spcPts val="0"/>
              </a:spcAft>
              <a:buClr>
                <a:schemeClr val="dk1"/>
              </a:buClr>
              <a:buSzPts val="1830"/>
              <a:buFont typeface="Times New Roman"/>
              <a:buChar char="•"/>
            </a:pPr>
            <a:r>
              <a:rPr lang="en-US" sz="1829">
                <a:latin typeface="Times New Roman"/>
                <a:ea typeface="Times New Roman"/>
                <a:cs typeface="Times New Roman"/>
                <a:sym typeface="Times New Roman"/>
              </a:rPr>
              <a:t>It has consistent lowest errors and highest R^2</a:t>
            </a:r>
            <a:endParaRPr sz="1829">
              <a:latin typeface="Times New Roman"/>
              <a:ea typeface="Times New Roman"/>
              <a:cs typeface="Times New Roman"/>
              <a:sym typeface="Times New Roman"/>
            </a:endParaRPr>
          </a:p>
          <a:p>
            <a:pPr indent="-167005" lvl="0" marL="228600" rtl="0" algn="l">
              <a:lnSpc>
                <a:spcPct val="70000"/>
              </a:lnSpc>
              <a:spcBef>
                <a:spcPts val="1000"/>
              </a:spcBef>
              <a:spcAft>
                <a:spcPts val="0"/>
              </a:spcAft>
              <a:buClr>
                <a:schemeClr val="dk1"/>
              </a:buClr>
              <a:buSzPts val="1830"/>
              <a:buFont typeface="Times New Roman"/>
              <a:buChar char="•"/>
            </a:pPr>
            <a:r>
              <a:rPr lang="en-US" sz="1829">
                <a:latin typeface="Times New Roman"/>
                <a:ea typeface="Times New Roman"/>
                <a:cs typeface="Times New Roman"/>
                <a:sym typeface="Times New Roman"/>
              </a:rPr>
              <a:t>Excellent Prediction, Accuracy and Strong generalization</a:t>
            </a:r>
            <a:br>
              <a:rPr lang="en-US" sz="1829">
                <a:latin typeface="Times New Roman"/>
                <a:ea typeface="Times New Roman"/>
                <a:cs typeface="Times New Roman"/>
                <a:sym typeface="Times New Roman"/>
              </a:rPr>
            </a:br>
            <a:endParaRPr sz="1829">
              <a:latin typeface="Times New Roman"/>
              <a:ea typeface="Times New Roman"/>
              <a:cs typeface="Times New Roman"/>
              <a:sym typeface="Times New Roman"/>
            </a:endParaRPr>
          </a:p>
        </p:txBody>
      </p:sp>
      <p:cxnSp>
        <p:nvCxnSpPr>
          <p:cNvPr id="255" name="Google Shape;255;p28"/>
          <p:cNvCxnSpPr/>
          <p:nvPr/>
        </p:nvCxnSpPr>
        <p:spPr>
          <a:xfrm>
            <a:off x="342300" y="4479716"/>
            <a:ext cx="11474700" cy="0"/>
          </a:xfrm>
          <a:prstGeom prst="straightConnector1">
            <a:avLst/>
          </a:prstGeom>
          <a:noFill/>
          <a:ln cap="flat" cmpd="sng" w="9525">
            <a:solidFill>
              <a:schemeClr val="dk2"/>
            </a:solidFill>
            <a:prstDash val="solid"/>
            <a:round/>
            <a:headEnd len="med" w="med" type="none"/>
            <a:tailEnd len="med" w="med" type="none"/>
          </a:ln>
        </p:spPr>
      </p:cxnSp>
      <p:sp>
        <p:nvSpPr>
          <p:cNvPr id="256" name="Google Shape;256;p28"/>
          <p:cNvSpPr txBox="1"/>
          <p:nvPr/>
        </p:nvSpPr>
        <p:spPr>
          <a:xfrm>
            <a:off x="580425" y="5302655"/>
            <a:ext cx="2693700" cy="7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rPr>
              <a:t>Final Model -&gt;</a:t>
            </a:r>
            <a:endParaRPr sz="2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9"/>
          <p:cNvSpPr/>
          <p:nvPr/>
        </p:nvSpPr>
        <p:spPr>
          <a:xfrm>
            <a:off x="0" y="0"/>
            <a:ext cx="12192000" cy="1087823"/>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 name="Google Shape;262;p29"/>
          <p:cNvSpPr txBox="1"/>
          <p:nvPr>
            <p:ph type="title"/>
          </p:nvPr>
        </p:nvSpPr>
        <p:spPr>
          <a:xfrm>
            <a:off x="0"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Play"/>
              <a:buNone/>
            </a:pPr>
            <a:r>
              <a:rPr b="1" lang="en-US">
                <a:solidFill>
                  <a:srgbClr val="F2F2F2"/>
                </a:solidFill>
                <a:latin typeface="Times New Roman"/>
                <a:ea typeface="Times New Roman"/>
                <a:cs typeface="Times New Roman"/>
                <a:sym typeface="Times New Roman"/>
              </a:rPr>
              <a:t>Insights and Recommendations</a:t>
            </a:r>
            <a:endParaRPr>
              <a:solidFill>
                <a:srgbClr val="F2F2F2"/>
              </a:solidFill>
              <a:latin typeface="Times New Roman"/>
              <a:ea typeface="Times New Roman"/>
              <a:cs typeface="Times New Roman"/>
              <a:sym typeface="Times New Roman"/>
            </a:endParaRPr>
          </a:p>
        </p:txBody>
      </p:sp>
      <p:sp>
        <p:nvSpPr>
          <p:cNvPr id="263" name="Google Shape;263;p29"/>
          <p:cNvSpPr txBox="1"/>
          <p:nvPr>
            <p:ph idx="1" type="body"/>
          </p:nvPr>
        </p:nvSpPr>
        <p:spPr>
          <a:xfrm>
            <a:off x="838200" y="1457739"/>
            <a:ext cx="10515600" cy="4719224"/>
          </a:xfrm>
          <a:prstGeom prst="rect">
            <a:avLst/>
          </a:prstGeom>
          <a:noFill/>
          <a:ln>
            <a:noFill/>
          </a:ln>
        </p:spPr>
        <p:txBody>
          <a:bodyPr anchorCtr="0" anchor="t" bIns="45700" lIns="91425" spcFirstLastPara="1" rIns="91425" wrap="square" tIns="45700">
            <a:normAutofit lnSpcReduction="20000"/>
          </a:bodyPr>
          <a:lstStyle/>
          <a:p>
            <a:pPr indent="-241934" lvl="0" marL="228600" rtl="0" algn="l">
              <a:lnSpc>
                <a:spcPct val="90000"/>
              </a:lnSpc>
              <a:spcBef>
                <a:spcPts val="0"/>
              </a:spcBef>
              <a:spcAft>
                <a:spcPts val="0"/>
              </a:spcAft>
              <a:buClr>
                <a:schemeClr val="dk1"/>
              </a:buClr>
              <a:buSzPts val="2800"/>
              <a:buFont typeface="Times New Roman"/>
              <a:buChar char="•"/>
            </a:pPr>
            <a:r>
              <a:rPr lang="en-US">
                <a:latin typeface="Times New Roman"/>
                <a:ea typeface="Times New Roman"/>
                <a:cs typeface="Times New Roman"/>
                <a:sym typeface="Times New Roman"/>
              </a:rPr>
              <a:t>Insights into Energy Usage Patterns and Potential Demand Spikes</a:t>
            </a:r>
            <a:endParaRPr>
              <a:latin typeface="Times New Roman"/>
              <a:ea typeface="Times New Roman"/>
              <a:cs typeface="Times New Roman"/>
              <a:sym typeface="Times New Roman"/>
            </a:endParaRPr>
          </a:p>
          <a:p>
            <a:pPr indent="0" lvl="0" marL="228600" rtl="0" algn="l">
              <a:lnSpc>
                <a:spcPct val="90000"/>
              </a:lnSpc>
              <a:spcBef>
                <a:spcPts val="0"/>
              </a:spcBef>
              <a:spcAft>
                <a:spcPts val="0"/>
              </a:spcAft>
              <a:buNone/>
            </a:pPr>
            <a:r>
              <a:t/>
            </a:r>
            <a:endParaRPr>
              <a:latin typeface="Times New Roman"/>
              <a:ea typeface="Times New Roman"/>
              <a:cs typeface="Times New Roman"/>
              <a:sym typeface="Times New Roman"/>
            </a:endParaRPr>
          </a:p>
          <a:p>
            <a:pPr indent="-201930" lvl="1" marL="685800" rtl="0" algn="l">
              <a:lnSpc>
                <a:spcPct val="90000"/>
              </a:lnSpc>
              <a:spcBef>
                <a:spcPts val="5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The energy usage data analysis has shown very strong and easily predictable daily and weekly seasonality, </a:t>
            </a:r>
            <a:endParaRPr sz="1800">
              <a:latin typeface="Times New Roman"/>
              <a:ea typeface="Times New Roman"/>
              <a:cs typeface="Times New Roman"/>
              <a:sym typeface="Times New Roman"/>
            </a:endParaRPr>
          </a:p>
          <a:p>
            <a:pPr indent="0" lvl="0" marL="685800" rtl="0" algn="l">
              <a:lnSpc>
                <a:spcPct val="90000"/>
              </a:lnSpc>
              <a:spcBef>
                <a:spcPts val="500"/>
              </a:spcBef>
              <a:spcAft>
                <a:spcPts val="0"/>
              </a:spcAft>
              <a:buNone/>
            </a:pPr>
            <a:r>
              <a:t/>
            </a:r>
            <a:endParaRPr sz="1800">
              <a:latin typeface="Times New Roman"/>
              <a:ea typeface="Times New Roman"/>
              <a:cs typeface="Times New Roman"/>
              <a:sym typeface="Times New Roman"/>
            </a:endParaRPr>
          </a:p>
          <a:p>
            <a:pPr indent="-201930" lvl="1" marL="685800" rtl="0" algn="l">
              <a:lnSpc>
                <a:spcPct val="90000"/>
              </a:lnSpc>
              <a:spcBef>
                <a:spcPts val="5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Demand has been increasing steadily during the operating hours that are generally considered standard starting with a steep morning rise-up to the peak period of the day, which is between 4 PM and 8 PM; </a:t>
            </a:r>
            <a:endParaRPr sz="1800">
              <a:latin typeface="Times New Roman"/>
              <a:ea typeface="Times New Roman"/>
              <a:cs typeface="Times New Roman"/>
              <a:sym typeface="Times New Roman"/>
            </a:endParaRPr>
          </a:p>
          <a:p>
            <a:pPr indent="0" lvl="0" marL="685800" rtl="0" algn="l">
              <a:lnSpc>
                <a:spcPct val="90000"/>
              </a:lnSpc>
              <a:spcBef>
                <a:spcPts val="500"/>
              </a:spcBef>
              <a:spcAft>
                <a:spcPts val="0"/>
              </a:spcAft>
              <a:buNone/>
            </a:pPr>
            <a:r>
              <a:t/>
            </a:r>
            <a:endParaRPr sz="1800">
              <a:latin typeface="Times New Roman"/>
              <a:ea typeface="Times New Roman"/>
              <a:cs typeface="Times New Roman"/>
              <a:sym typeface="Times New Roman"/>
            </a:endParaRPr>
          </a:p>
          <a:p>
            <a:pPr indent="-201930" lvl="1" marL="685800" rtl="0" algn="l">
              <a:lnSpc>
                <a:spcPct val="90000"/>
              </a:lnSpc>
              <a:spcBef>
                <a:spcPts val="5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Load is very much dependent on the previous day's consumption confirming a cyclic pattern that enables the operational team to utilize the demand forecasts that are based on the pattern adequately. </a:t>
            </a:r>
            <a:endParaRPr sz="1800">
              <a:latin typeface="Times New Roman"/>
              <a:ea typeface="Times New Roman"/>
              <a:cs typeface="Times New Roman"/>
              <a:sym typeface="Times New Roman"/>
            </a:endParaRPr>
          </a:p>
          <a:p>
            <a:pPr indent="0" lvl="0" marL="685800" rtl="0" algn="l">
              <a:lnSpc>
                <a:spcPct val="90000"/>
              </a:lnSpc>
              <a:spcBef>
                <a:spcPts val="500"/>
              </a:spcBef>
              <a:spcAft>
                <a:spcPts val="0"/>
              </a:spcAft>
              <a:buNone/>
            </a:pPr>
            <a:r>
              <a:t/>
            </a:r>
            <a:endParaRPr sz="1800">
              <a:latin typeface="Times New Roman"/>
              <a:ea typeface="Times New Roman"/>
              <a:cs typeface="Times New Roman"/>
              <a:sym typeface="Times New Roman"/>
            </a:endParaRPr>
          </a:p>
          <a:p>
            <a:pPr indent="-201930" lvl="1" marL="685800" rtl="0" algn="l">
              <a:lnSpc>
                <a:spcPct val="90000"/>
              </a:lnSpc>
              <a:spcBef>
                <a:spcPts val="5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This pattern is heavily influenced by the weather, as high outdoor air temperatures lead to high cooling loads which are mainly responsible for the afternoon heat-driven peaks, these peaks combined with operational events such as the morning start-up surges and the post-lunch ramps define the main scenarios leading to the critical demand spikes.</a:t>
            </a:r>
            <a:endParaRPr sz="1800">
              <a:latin typeface="Times New Roman"/>
              <a:ea typeface="Times New Roman"/>
              <a:cs typeface="Times New Roman"/>
              <a:sym typeface="Times New Roman"/>
            </a:endParaRPr>
          </a:p>
          <a:p>
            <a:pPr indent="0" lvl="1" marL="457200" rtl="0" algn="l">
              <a:lnSpc>
                <a:spcPct val="90000"/>
              </a:lnSpc>
              <a:spcBef>
                <a:spcPts val="500"/>
              </a:spcBef>
              <a:spcAft>
                <a:spcPts val="0"/>
              </a:spcAft>
              <a:buClr>
                <a:schemeClr val="dk1"/>
              </a:buClr>
              <a:buSzPts val="2400"/>
              <a:buNone/>
            </a:pPr>
            <a:r>
              <a:t/>
            </a:r>
            <a:endParaRPr>
              <a:latin typeface="Times New Roman"/>
              <a:ea typeface="Times New Roman"/>
              <a:cs typeface="Times New Roman"/>
              <a:sym typeface="Times New Roman"/>
            </a:endParaRPr>
          </a:p>
          <a:p>
            <a:pPr indent="0" lvl="1" marL="457200" rtl="0" algn="l">
              <a:lnSpc>
                <a:spcPct val="90000"/>
              </a:lnSpc>
              <a:spcBef>
                <a:spcPts val="500"/>
              </a:spcBef>
              <a:spcAft>
                <a:spcPts val="0"/>
              </a:spcAft>
              <a:buClr>
                <a:schemeClr val="dk1"/>
              </a:buClr>
              <a:buSzPts val="2400"/>
              <a:buNone/>
            </a:pPr>
            <a:r>
              <a:t/>
            </a:r>
            <a:endParaRPr>
              <a:latin typeface="Times New Roman"/>
              <a:ea typeface="Times New Roman"/>
              <a:cs typeface="Times New Roman"/>
              <a:sym typeface="Times New Roman"/>
            </a:endParaRPr>
          </a:p>
          <a:p>
            <a:pPr indent="0" lvl="1" marL="457200" rtl="0" algn="l">
              <a:lnSpc>
                <a:spcPct val="90000"/>
              </a:lnSpc>
              <a:spcBef>
                <a:spcPts val="500"/>
              </a:spcBef>
              <a:spcAft>
                <a:spcPts val="0"/>
              </a:spcAft>
              <a:buClr>
                <a:schemeClr val="dk1"/>
              </a:buClr>
              <a:buSzPts val="2400"/>
              <a:buNone/>
            </a:pPr>
            <a:r>
              <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0"/>
          <p:cNvSpPr txBox="1"/>
          <p:nvPr>
            <p:ph idx="1" type="body"/>
          </p:nvPr>
        </p:nvSpPr>
        <p:spPr>
          <a:xfrm>
            <a:off x="838200" y="1354335"/>
            <a:ext cx="10515600" cy="5075700"/>
          </a:xfrm>
          <a:prstGeom prst="rect">
            <a:avLst/>
          </a:prstGeom>
          <a:noFill/>
          <a:ln>
            <a:noFill/>
          </a:ln>
        </p:spPr>
        <p:txBody>
          <a:bodyPr anchorCtr="0" anchor="t" bIns="45700" lIns="91425" spcFirstLastPara="1" rIns="91425" wrap="square" tIns="45700">
            <a:normAutofit lnSpcReduction="20000"/>
          </a:bodyPr>
          <a:lstStyle/>
          <a:p>
            <a:pPr indent="-342900" lvl="0" marL="457200" rtl="0" algn="l">
              <a:lnSpc>
                <a:spcPct val="90000"/>
              </a:lnSpc>
              <a:spcBef>
                <a:spcPts val="0"/>
              </a:spcBef>
              <a:spcAft>
                <a:spcPts val="0"/>
              </a:spcAft>
              <a:buSzPts val="1800"/>
              <a:buFont typeface="Times New Roman"/>
              <a:buChar char="●"/>
            </a:pPr>
            <a:r>
              <a:rPr lang="en-US">
                <a:latin typeface="Times New Roman"/>
                <a:ea typeface="Times New Roman"/>
                <a:cs typeface="Times New Roman"/>
                <a:sym typeface="Times New Roman"/>
              </a:rPr>
              <a:t>Strategies to Optimize Energy Distribution and Reduce Peak Load</a:t>
            </a:r>
            <a:endParaRPr>
              <a:latin typeface="Times New Roman"/>
              <a:ea typeface="Times New Roman"/>
              <a:cs typeface="Times New Roman"/>
              <a:sym typeface="Times New Roman"/>
            </a:endParaRPr>
          </a:p>
          <a:p>
            <a:pPr indent="0" lvl="0" marL="457200" rtl="0" algn="l">
              <a:lnSpc>
                <a:spcPct val="90000"/>
              </a:lnSpc>
              <a:spcBef>
                <a:spcPts val="0"/>
              </a:spcBef>
              <a:spcAft>
                <a:spcPts val="0"/>
              </a:spcAft>
              <a:buNone/>
            </a:pPr>
            <a:r>
              <a:t/>
            </a:r>
            <a:endParaRPr>
              <a:latin typeface="Times New Roman"/>
              <a:ea typeface="Times New Roman"/>
              <a:cs typeface="Times New Roman"/>
              <a:sym typeface="Times New Roman"/>
            </a:endParaRPr>
          </a:p>
          <a:p>
            <a:pPr indent="-349250" lvl="0" marL="914400" rtl="0" algn="l">
              <a:lnSpc>
                <a:spcPct val="9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The facility should adopt data-guided strategies to begin with Load Shifting which entails moving the flexible consumption (pre-cooling or non-essential equipment use)</a:t>
            </a:r>
            <a:endParaRPr sz="1900">
              <a:latin typeface="Times New Roman"/>
              <a:ea typeface="Times New Roman"/>
              <a:cs typeface="Times New Roman"/>
              <a:sym typeface="Times New Roman"/>
            </a:endParaRPr>
          </a:p>
          <a:p>
            <a:pPr indent="0" lvl="0" marL="914400" rtl="0" algn="l">
              <a:lnSpc>
                <a:spcPct val="90000"/>
              </a:lnSpc>
              <a:spcBef>
                <a:spcPts val="0"/>
              </a:spcBef>
              <a:spcAft>
                <a:spcPts val="0"/>
              </a:spcAft>
              <a:buNone/>
            </a:pPr>
            <a:r>
              <a:t/>
            </a:r>
            <a:endParaRPr sz="1900">
              <a:latin typeface="Times New Roman"/>
              <a:ea typeface="Times New Roman"/>
              <a:cs typeface="Times New Roman"/>
              <a:sym typeface="Times New Roman"/>
            </a:endParaRPr>
          </a:p>
          <a:p>
            <a:pPr indent="-349250" lvl="0" marL="914400" rtl="0" algn="l">
              <a:lnSpc>
                <a:spcPct val="90000"/>
              </a:lnSpc>
              <a:spcBef>
                <a:spcPts val="500"/>
              </a:spcBef>
              <a:spcAft>
                <a:spcPts val="0"/>
              </a:spcAft>
              <a:buSzPts val="1900"/>
              <a:buFont typeface="Times New Roman"/>
              <a:buChar char="•"/>
            </a:pPr>
            <a:r>
              <a:rPr lang="en-US" sz="1900">
                <a:latin typeface="Times New Roman"/>
                <a:ea typeface="Times New Roman"/>
                <a:cs typeface="Times New Roman"/>
                <a:sym typeface="Times New Roman"/>
              </a:rPr>
              <a:t>Flattening and reshaping the load curve in order to achieve distribution optimization and peak load reduction.</a:t>
            </a:r>
            <a:endParaRPr sz="1900">
              <a:latin typeface="Times New Roman"/>
              <a:ea typeface="Times New Roman"/>
              <a:cs typeface="Times New Roman"/>
              <a:sym typeface="Times New Roman"/>
            </a:endParaRPr>
          </a:p>
          <a:p>
            <a:pPr indent="0" lvl="0" marL="0" rtl="0" algn="l">
              <a:lnSpc>
                <a:spcPct val="90000"/>
              </a:lnSpc>
              <a:spcBef>
                <a:spcPts val="500"/>
              </a:spcBef>
              <a:spcAft>
                <a:spcPts val="0"/>
              </a:spcAft>
              <a:buNone/>
            </a:pPr>
            <a:r>
              <a:t/>
            </a:r>
            <a:endParaRPr>
              <a:latin typeface="Times New Roman"/>
              <a:ea typeface="Times New Roman"/>
              <a:cs typeface="Times New Roman"/>
              <a:sym typeface="Times New Roman"/>
            </a:endParaRPr>
          </a:p>
          <a:p>
            <a:pPr indent="-342900" lvl="0" marL="4572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Recommendations:</a:t>
            </a:r>
            <a:endParaRPr>
              <a:latin typeface="Times New Roman"/>
              <a:ea typeface="Times New Roman"/>
              <a:cs typeface="Times New Roman"/>
              <a:sym typeface="Times New Roman"/>
            </a:endParaRPr>
          </a:p>
          <a:p>
            <a:pPr indent="0" lvl="0" marL="457200" rtl="0" algn="l">
              <a:lnSpc>
                <a:spcPct val="90000"/>
              </a:lnSpc>
              <a:spcBef>
                <a:spcPts val="500"/>
              </a:spcBef>
              <a:spcAft>
                <a:spcPts val="0"/>
              </a:spcAft>
              <a:buNone/>
            </a:pPr>
            <a:r>
              <a:t/>
            </a:r>
            <a:endParaRPr>
              <a:latin typeface="Times New Roman"/>
              <a:ea typeface="Times New Roman"/>
              <a:cs typeface="Times New Roman"/>
              <a:sym typeface="Times New Roman"/>
            </a:endParaRPr>
          </a:p>
          <a:p>
            <a:pPr indent="-349250" lvl="0" marL="914400" rtl="0" algn="l">
              <a:lnSpc>
                <a:spcPct val="90000"/>
              </a:lnSpc>
              <a:spcBef>
                <a:spcPts val="500"/>
              </a:spcBef>
              <a:spcAft>
                <a:spcPts val="0"/>
              </a:spcAft>
              <a:buSzPts val="1900"/>
              <a:buFont typeface="Times New Roman"/>
              <a:buChar char="•"/>
            </a:pPr>
            <a:r>
              <a:rPr lang="en-US" sz="1900">
                <a:latin typeface="Times New Roman"/>
                <a:ea typeface="Times New Roman"/>
                <a:cs typeface="Times New Roman"/>
                <a:sym typeface="Times New Roman"/>
              </a:rPr>
              <a:t>Predictive HVAC Optimization should be part of this strategy, and it will make use of the high accuracy of the forecasts to predict hot days</a:t>
            </a:r>
            <a:endParaRPr sz="1900">
              <a:latin typeface="Times New Roman"/>
              <a:ea typeface="Times New Roman"/>
              <a:cs typeface="Times New Roman"/>
              <a:sym typeface="Times New Roman"/>
            </a:endParaRPr>
          </a:p>
          <a:p>
            <a:pPr indent="0" lvl="0" marL="914400" rtl="0" algn="l">
              <a:lnSpc>
                <a:spcPct val="90000"/>
              </a:lnSpc>
              <a:spcBef>
                <a:spcPts val="500"/>
              </a:spcBef>
              <a:spcAft>
                <a:spcPts val="0"/>
              </a:spcAft>
              <a:buNone/>
            </a:pPr>
            <a:r>
              <a:t/>
            </a:r>
            <a:endParaRPr sz="1900">
              <a:latin typeface="Times New Roman"/>
              <a:ea typeface="Times New Roman"/>
              <a:cs typeface="Times New Roman"/>
              <a:sym typeface="Times New Roman"/>
            </a:endParaRPr>
          </a:p>
          <a:p>
            <a:pPr indent="-342900" lvl="0" marL="914400" rtl="0" algn="l">
              <a:lnSpc>
                <a:spcPct val="90000"/>
              </a:lnSpc>
              <a:spcBef>
                <a:spcPts val="500"/>
              </a:spcBef>
              <a:spcAft>
                <a:spcPts val="0"/>
              </a:spcAft>
              <a:buSzPts val="1800"/>
              <a:buFont typeface="Times New Roman"/>
              <a:buChar char="•"/>
            </a:pPr>
            <a:r>
              <a:rPr lang="en-US" sz="1900">
                <a:latin typeface="Times New Roman"/>
                <a:ea typeface="Times New Roman"/>
                <a:cs typeface="Times New Roman"/>
                <a:sym typeface="Times New Roman"/>
              </a:rPr>
              <a:t>Finally, the use of Energy Storage Systems can add a new layer of optimization to distribution by the practice of charging the batteries during the off-peak hours (midnight to 5 AM) and then discharging the stored energy during the expected peak times, thus making the facility less reliant on costly external grid imports.</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269" name="Google Shape;269;p30"/>
          <p:cNvSpPr/>
          <p:nvPr/>
        </p:nvSpPr>
        <p:spPr>
          <a:xfrm>
            <a:off x="0" y="0"/>
            <a:ext cx="12192000" cy="10878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 name="Google Shape;270;p30"/>
          <p:cNvSpPr txBox="1"/>
          <p:nvPr>
            <p:ph type="title"/>
          </p:nvPr>
        </p:nvSpPr>
        <p:spPr>
          <a:xfrm>
            <a:off x="0" y="1825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Play"/>
              <a:buNone/>
            </a:pPr>
            <a:r>
              <a:rPr b="1" lang="en-US">
                <a:solidFill>
                  <a:srgbClr val="F2F2F2"/>
                </a:solidFill>
                <a:latin typeface="Times New Roman"/>
                <a:ea typeface="Times New Roman"/>
                <a:cs typeface="Times New Roman"/>
                <a:sym typeface="Times New Roman"/>
              </a:rPr>
              <a:t>Insights and Recommendations</a:t>
            </a:r>
            <a:endParaRPr>
              <a:solidFill>
                <a:srgbClr val="F2F2F2"/>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1"/>
          <p:cNvSpPr/>
          <p:nvPr/>
        </p:nvSpPr>
        <p:spPr>
          <a:xfrm>
            <a:off x="0" y="0"/>
            <a:ext cx="12192000" cy="1450428"/>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 name="Google Shape;27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2F2F2"/>
              </a:buClr>
              <a:buSzPct val="88789"/>
              <a:buFont typeface="Times New Roman"/>
              <a:buNone/>
            </a:pPr>
            <a:r>
              <a:rPr lang="en-US" sz="4955">
                <a:solidFill>
                  <a:srgbClr val="F2F2F2"/>
                </a:solidFill>
                <a:latin typeface="Times New Roman"/>
                <a:ea typeface="Times New Roman"/>
                <a:cs typeface="Times New Roman"/>
                <a:sym typeface="Times New Roman"/>
              </a:rPr>
              <a:t>Evaluation of the Potential Impact of the Recommendations on Energy Efficiency</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277" name="Google Shape;277;p31"/>
          <p:cNvSpPr txBox="1"/>
          <p:nvPr>
            <p:ph idx="1" type="body"/>
          </p:nvPr>
        </p:nvSpPr>
        <p:spPr>
          <a:xfrm>
            <a:off x="491125" y="1825625"/>
            <a:ext cx="11296200" cy="4351200"/>
          </a:xfrm>
          <a:prstGeom prst="rect">
            <a:avLst/>
          </a:prstGeom>
          <a:noFill/>
          <a:ln>
            <a:noFill/>
          </a:ln>
        </p:spPr>
        <p:txBody>
          <a:bodyPr anchorCtr="0" anchor="t" bIns="45700" lIns="91425" spcFirstLastPara="1" rIns="91425" wrap="square" tIns="45700">
            <a:normAutofit lnSpcReduction="10000"/>
          </a:bodyPr>
          <a:lstStyle/>
          <a:p>
            <a:pPr indent="-191770" lvl="0" marL="228600" rtl="0" algn="l">
              <a:lnSpc>
                <a:spcPct val="90000"/>
              </a:lnSpc>
              <a:spcBef>
                <a:spcPts val="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The application of these tactics will lead to considerable and quantifiable enhancement in energy efficiency and performance through a load curve that is, in effect, much flatter. </a:t>
            </a:r>
            <a:endParaRPr sz="1800">
              <a:latin typeface="Times New Roman"/>
              <a:ea typeface="Times New Roman"/>
              <a:cs typeface="Times New Roman"/>
              <a:sym typeface="Times New Roman"/>
            </a:endParaRPr>
          </a:p>
          <a:p>
            <a:pPr indent="0" lvl="0" marL="228600" rtl="0" algn="l">
              <a:lnSpc>
                <a:spcPct val="90000"/>
              </a:lnSpc>
              <a:spcBef>
                <a:spcPts val="0"/>
              </a:spcBef>
              <a:spcAft>
                <a:spcPts val="0"/>
              </a:spcAft>
              <a:buNone/>
            </a:pPr>
            <a:r>
              <a:t/>
            </a:r>
            <a:endParaRPr sz="1800">
              <a:latin typeface="Times New Roman"/>
              <a:ea typeface="Times New Roman"/>
              <a:cs typeface="Times New Roman"/>
              <a:sym typeface="Times New Roman"/>
            </a:endParaRPr>
          </a:p>
          <a:p>
            <a:pPr indent="-191770" lvl="0" marL="228600" rtl="0" algn="l">
              <a:lnSpc>
                <a:spcPct val="90000"/>
              </a:lnSpc>
              <a:spcBef>
                <a:spcPts val="10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This would automatically result in considerable savings being realized through lesser exposure to high peak-pricing tariffs, which is the direct effect of the load curve being flattened. </a:t>
            </a:r>
            <a:endParaRPr sz="1800">
              <a:latin typeface="Times New Roman"/>
              <a:ea typeface="Times New Roman"/>
              <a:cs typeface="Times New Roman"/>
              <a:sym typeface="Times New Roman"/>
            </a:endParaRPr>
          </a:p>
          <a:p>
            <a:pPr indent="0" lvl="0" marL="228600" rtl="0" algn="l">
              <a:lnSpc>
                <a:spcPct val="90000"/>
              </a:lnSpc>
              <a:spcBef>
                <a:spcPts val="1000"/>
              </a:spcBef>
              <a:spcAft>
                <a:spcPts val="0"/>
              </a:spcAft>
              <a:buNone/>
            </a:pPr>
            <a:r>
              <a:t/>
            </a:r>
            <a:endParaRPr sz="1800">
              <a:latin typeface="Times New Roman"/>
              <a:ea typeface="Times New Roman"/>
              <a:cs typeface="Times New Roman"/>
              <a:sym typeface="Times New Roman"/>
            </a:endParaRPr>
          </a:p>
          <a:p>
            <a:pPr indent="-191770" lvl="0" marL="228600" rtl="0" algn="l">
              <a:lnSpc>
                <a:spcPct val="90000"/>
              </a:lnSpc>
              <a:spcBef>
                <a:spcPts val="10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Besides, the predictive management method will increase the operational ability by lessening the chances of equipment overload and unplanned shortages. </a:t>
            </a:r>
            <a:endParaRPr sz="1800">
              <a:latin typeface="Times New Roman"/>
              <a:ea typeface="Times New Roman"/>
              <a:cs typeface="Times New Roman"/>
              <a:sym typeface="Times New Roman"/>
            </a:endParaRPr>
          </a:p>
          <a:p>
            <a:pPr indent="0" lvl="0" marL="228600" rtl="0" algn="l">
              <a:lnSpc>
                <a:spcPct val="90000"/>
              </a:lnSpc>
              <a:spcBef>
                <a:spcPts val="1000"/>
              </a:spcBef>
              <a:spcAft>
                <a:spcPts val="0"/>
              </a:spcAft>
              <a:buNone/>
            </a:pPr>
            <a:r>
              <a:t/>
            </a:r>
            <a:endParaRPr sz="1800">
              <a:latin typeface="Times New Roman"/>
              <a:ea typeface="Times New Roman"/>
              <a:cs typeface="Times New Roman"/>
              <a:sym typeface="Times New Roman"/>
            </a:endParaRPr>
          </a:p>
          <a:p>
            <a:pPr indent="-191770" lvl="0" marL="228600" rtl="0" algn="l">
              <a:lnSpc>
                <a:spcPct val="90000"/>
              </a:lnSpc>
              <a:spcBef>
                <a:spcPts val="10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It will also be a great assistance to the environment by reducing the need for high-emission generation sources in the fast times of peak demand.</a:t>
            </a:r>
            <a:endParaRPr sz="1800">
              <a:latin typeface="Times New Roman"/>
              <a:ea typeface="Times New Roman"/>
              <a:cs typeface="Times New Roman"/>
              <a:sym typeface="Times New Roman"/>
            </a:endParaRPr>
          </a:p>
          <a:p>
            <a:pPr indent="0" lvl="0" marL="228600" rtl="0" algn="l">
              <a:lnSpc>
                <a:spcPct val="90000"/>
              </a:lnSpc>
              <a:spcBef>
                <a:spcPts val="1000"/>
              </a:spcBef>
              <a:spcAft>
                <a:spcPts val="0"/>
              </a:spcAft>
              <a:buNone/>
            </a:pPr>
            <a:r>
              <a:t/>
            </a:r>
            <a:endParaRPr sz="1800">
              <a:latin typeface="Times New Roman"/>
              <a:ea typeface="Times New Roman"/>
              <a:cs typeface="Times New Roman"/>
              <a:sym typeface="Times New Roman"/>
            </a:endParaRPr>
          </a:p>
          <a:p>
            <a:pPr indent="-191770" lvl="0" marL="228600" rtl="0" algn="l">
              <a:lnSpc>
                <a:spcPct val="90000"/>
              </a:lnSpc>
              <a:spcBef>
                <a:spcPts val="1000"/>
              </a:spcBef>
              <a:spcAft>
                <a:spcPts val="0"/>
              </a:spcAft>
              <a:buClr>
                <a:schemeClr val="dk1"/>
              </a:buClr>
              <a:buSzPts val="1800"/>
              <a:buFont typeface="Times New Roman"/>
              <a:buChar char="•"/>
            </a:pPr>
            <a:r>
              <a:rPr lang="en-US" sz="1800">
                <a:latin typeface="Times New Roman"/>
                <a:ea typeface="Times New Roman"/>
                <a:cs typeface="Times New Roman"/>
                <a:sym typeface="Times New Roman"/>
              </a:rPr>
              <a:t> Ultimately, the frequency of sharp load fluctuations will reduce, leading to the extension of asset longevity. Thus, these data-driven recommendations will be the base for sustainable and cost-effective energy planning.</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2"/>
          <p:cNvSpPr txBox="1"/>
          <p:nvPr/>
        </p:nvSpPr>
        <p:spPr>
          <a:xfrm>
            <a:off x="1071300" y="1905000"/>
            <a:ext cx="102825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GitHub Repository Link- </a:t>
            </a:r>
            <a:br>
              <a:rPr lang="en-US" sz="1800">
                <a:solidFill>
                  <a:schemeClr val="dk1"/>
                </a:solidFill>
                <a:latin typeface="Arial"/>
                <a:ea typeface="Arial"/>
                <a:cs typeface="Arial"/>
                <a:sym typeface="Arial"/>
              </a:rPr>
            </a:br>
            <a:r>
              <a:rPr lang="en-US" sz="1800" u="sng">
                <a:solidFill>
                  <a:schemeClr val="hlink"/>
                </a:solidFill>
                <a:latin typeface="Arial"/>
                <a:ea typeface="Arial"/>
                <a:cs typeface="Arial"/>
                <a:sym typeface="Arial"/>
                <a:hlinkClick r:id="rId3"/>
              </a:rPr>
              <a:t>https://github.com/cezanekarki/Energy-Consumption-Analysis.git</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The model is deployed on Streamlit - </a:t>
            </a:r>
            <a:r>
              <a:rPr lang="en-US" sz="1800" u="sng">
                <a:solidFill>
                  <a:schemeClr val="hlink"/>
                </a:solidFill>
                <a:latin typeface="Arial"/>
                <a:ea typeface="Arial"/>
                <a:cs typeface="Arial"/>
                <a:sym typeface="Arial"/>
                <a:hlinkClick r:id="rId4"/>
              </a:rPr>
              <a:t>https://energyconsumptiontimeseriesforecasting-hnshvkhbjnhr8zssvhwqvb.streamlit.app/</a:t>
            </a:r>
            <a:r>
              <a:rPr lang="en-US" sz="18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a:t>
            </a:r>
            <a:endParaRPr/>
          </a:p>
        </p:txBody>
      </p:sp>
      <p:sp>
        <p:nvSpPr>
          <p:cNvPr id="283" name="Google Shape;283;p32"/>
          <p:cNvSpPr/>
          <p:nvPr/>
        </p:nvSpPr>
        <p:spPr>
          <a:xfrm>
            <a:off x="0" y="0"/>
            <a:ext cx="12192000" cy="14505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 name="Google Shape;284;p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2F2F2"/>
              </a:buClr>
              <a:buSzPts val="4400"/>
              <a:buFont typeface="Times New Roman"/>
              <a:buNone/>
            </a:pPr>
            <a:r>
              <a:rPr lang="en-US">
                <a:solidFill>
                  <a:srgbClr val="F2F2F2"/>
                </a:solidFill>
                <a:latin typeface="Times New Roman"/>
                <a:ea typeface="Times New Roman"/>
                <a:cs typeface="Times New Roman"/>
                <a:sym typeface="Times New Roman"/>
              </a:rPr>
              <a:t>Appendix</a:t>
            </a:r>
            <a:endParaRPr>
              <a:latin typeface="Times New Roman"/>
              <a:ea typeface="Times New Roman"/>
              <a:cs typeface="Times New Roman"/>
              <a:sym typeface="Times New Roman"/>
            </a:endParaRPr>
          </a:p>
        </p:txBody>
      </p:sp>
      <p:sp>
        <p:nvSpPr>
          <p:cNvPr id="285" name="Google Shape;285;p32"/>
          <p:cNvSpPr txBox="1"/>
          <p:nvPr/>
        </p:nvSpPr>
        <p:spPr>
          <a:xfrm>
            <a:off x="744150" y="3869525"/>
            <a:ext cx="9584400" cy="26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endParaRPr>
          </a:p>
        </p:txBody>
      </p:sp>
      <p:pic>
        <p:nvPicPr>
          <p:cNvPr descr="Image of " id="286" name="Google Shape;286;p32"/>
          <p:cNvPicPr preferRelativeResize="0"/>
          <p:nvPr/>
        </p:nvPicPr>
        <p:blipFill rotWithShape="1">
          <a:blip r:embed="rId5">
            <a:alphaModFix/>
          </a:blip>
          <a:srcRect b="33430" l="0" r="0" t="24252"/>
          <a:stretch/>
        </p:blipFill>
        <p:spPr>
          <a:xfrm>
            <a:off x="2254187" y="3642372"/>
            <a:ext cx="7542025" cy="3191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